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9"/>
  </p:notesMasterIdLst>
  <p:sldIdLst>
    <p:sldId id="271" r:id="rId2"/>
    <p:sldId id="256" r:id="rId3"/>
    <p:sldId id="257" r:id="rId4"/>
    <p:sldId id="270" r:id="rId5"/>
    <p:sldId id="258" r:id="rId6"/>
    <p:sldId id="272" r:id="rId7"/>
    <p:sldId id="273" r:id="rId8"/>
    <p:sldId id="275" r:id="rId9"/>
    <p:sldId id="259" r:id="rId10"/>
    <p:sldId id="274" r:id="rId11"/>
    <p:sldId id="260" r:id="rId12"/>
    <p:sldId id="261" r:id="rId13"/>
    <p:sldId id="276" r:id="rId14"/>
    <p:sldId id="262" r:id="rId15"/>
    <p:sldId id="263" r:id="rId16"/>
    <p:sldId id="278" r:id="rId17"/>
    <p:sldId id="279" r:id="rId18"/>
    <p:sldId id="280" r:id="rId19"/>
    <p:sldId id="277" r:id="rId20"/>
    <p:sldId id="281" r:id="rId21"/>
    <p:sldId id="282" r:id="rId22"/>
    <p:sldId id="283" r:id="rId23"/>
    <p:sldId id="284" r:id="rId24"/>
    <p:sldId id="264" r:id="rId25"/>
    <p:sldId id="285" r:id="rId26"/>
    <p:sldId id="286" r:id="rId27"/>
    <p:sldId id="287" r:id="rId28"/>
    <p:sldId id="265" r:id="rId29"/>
    <p:sldId id="288" r:id="rId30"/>
    <p:sldId id="289" r:id="rId31"/>
    <p:sldId id="291" r:id="rId32"/>
    <p:sldId id="266" r:id="rId33"/>
    <p:sldId id="293" r:id="rId34"/>
    <p:sldId id="294" r:id="rId35"/>
    <p:sldId id="292" r:id="rId36"/>
    <p:sldId id="268" r:id="rId37"/>
    <p:sldId id="269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1673" autoAdjust="0"/>
  </p:normalViewPr>
  <p:slideViewPr>
    <p:cSldViewPr snapToGrid="0" snapToObjects="1">
      <p:cViewPr varScale="1">
        <p:scale>
          <a:sx n="42" d="100"/>
          <a:sy n="42" d="100"/>
        </p:scale>
        <p:origin x="2196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048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12166-6679-0CBC-5012-B04F1C5F4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6FC25A-AB49-D0A0-3CBA-39D7505778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67C383-95C5-C4B8-6D70-F6635E6AB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Apresente</a:t>
            </a:r>
            <a:r>
              <a:rPr dirty="0"/>
              <a:t> o </a:t>
            </a:r>
            <a:r>
              <a:rPr dirty="0" err="1"/>
              <a:t>roteiro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evolução</a:t>
            </a:r>
            <a:r>
              <a:rPr dirty="0"/>
              <a:t> da </a:t>
            </a:r>
            <a:r>
              <a:rPr dirty="0" err="1"/>
              <a:t>complexidade</a:t>
            </a:r>
            <a:r>
              <a:rPr dirty="0"/>
              <a:t>: do dado </a:t>
            </a:r>
            <a:r>
              <a:rPr dirty="0" err="1"/>
              <a:t>binário</a:t>
            </a:r>
            <a:r>
              <a:rPr dirty="0"/>
              <a:t> à </a:t>
            </a:r>
            <a:r>
              <a:rPr dirty="0" err="1"/>
              <a:t>gestão</a:t>
            </a:r>
            <a:r>
              <a:rPr dirty="0"/>
              <a:t> industrial.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71F13-AF0F-675D-662A-86FAEC1C24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13678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Imagine que você é o engenheiro por um </a:t>
            </a:r>
            <a:r>
              <a:rPr lang="pt-BR" b="1" dirty="0"/>
              <a:t>Rover em Marte</a:t>
            </a:r>
            <a:r>
              <a:rPr lang="pt-BR" dirty="0"/>
              <a:t>. O sinal leva 20 minutos para chegar. Ele precisa ser autônomo.</a:t>
            </a:r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Destaque que o robô não pode esperar ordens da Terra. Ele precisa: 1. Perceber o perigo (Lógica); 2. Decidir o caminho (Planejamento); 3. Otimizar a energia (Escalonamento).</a:t>
            </a:r>
          </a:p>
          <a:p>
            <a:endParaRPr lang="pt-BR" dirty="0"/>
          </a:p>
          <a:p>
            <a:r>
              <a:rPr lang="pt-BR" b="1" dirty="0">
                <a:solidFill>
                  <a:srgbClr val="FF0000"/>
                </a:solidFill>
              </a:rPr>
              <a:t>Mensagem:</a:t>
            </a:r>
            <a:r>
              <a:rPr lang="pt-BR" dirty="0">
                <a:solidFill>
                  <a:srgbClr val="FF0000"/>
                </a:solidFill>
              </a:rPr>
              <a:t> Para resolver esse problema, não basta um algoritmo; precisamos de uma </a:t>
            </a:r>
            <a:r>
              <a:rPr lang="pt-BR" b="1" dirty="0">
                <a:solidFill>
                  <a:srgbClr val="FF0000"/>
                </a:solidFill>
              </a:rPr>
              <a:t>arquitetura de inteligência</a:t>
            </a:r>
            <a:r>
              <a:rPr lang="pt-BR" dirty="0">
                <a:solidFill>
                  <a:srgbClr val="FF0000"/>
                </a:solidFill>
              </a:rPr>
              <a:t>.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Apresente o roteiro como uma evolução da complexidade: do dado binário à gestão industrial.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2B6F6-B95E-9919-1020-51DBBBB7B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96DBC-0B3D-A018-2CE3-B96F72BF10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C317BC-0E9B-E50F-CD97-4965EAE078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“</a:t>
            </a:r>
            <a:r>
              <a:rPr lang="pt-BR" b="1" dirty="0"/>
              <a:t>Representar conhecimento não é suficiente. Um sistema inteligente também precisa ser capaz de raciocinar a partir desse conhecimento.”</a:t>
            </a:r>
            <a:endParaRPr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F03DF-6BDC-3F2A-77C3-0B50742951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39003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Explique que aqui o conteúdo não importa, apenas a forma. Use a analogia das 'caixas pretas' que podem estar ligadas ou desligadas.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A8006-63D2-7EE7-8E44-E2BA34E37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D189BD-2028-177D-662A-23FFFD9D35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7DFD4C-B5DD-D51B-4BE9-E536682844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Explique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aqui</a:t>
            </a:r>
            <a:r>
              <a:rPr dirty="0"/>
              <a:t> o </a:t>
            </a:r>
            <a:r>
              <a:rPr dirty="0" err="1"/>
              <a:t>conteúdo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importa</a:t>
            </a:r>
            <a:r>
              <a:rPr dirty="0"/>
              <a:t>, </a:t>
            </a:r>
            <a:r>
              <a:rPr dirty="0" err="1"/>
              <a:t>apenas</a:t>
            </a:r>
            <a:r>
              <a:rPr dirty="0"/>
              <a:t> a forma. Use a analogia das '</a:t>
            </a:r>
            <a:r>
              <a:rPr dirty="0" err="1"/>
              <a:t>caixas</a:t>
            </a:r>
            <a:r>
              <a:rPr dirty="0"/>
              <a:t> pretas'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podem</a:t>
            </a:r>
            <a:r>
              <a:rPr dirty="0"/>
              <a:t> </a:t>
            </a:r>
            <a:r>
              <a:rPr dirty="0" err="1"/>
              <a:t>estar</a:t>
            </a:r>
            <a:r>
              <a:rPr dirty="0"/>
              <a:t> </a:t>
            </a:r>
            <a:r>
              <a:rPr dirty="0" err="1"/>
              <a:t>ligadas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desligadas</a:t>
            </a:r>
            <a:r>
              <a:rPr dirty="0"/>
              <a:t>.</a:t>
            </a:r>
            <a:endParaRPr lang="pt-BR" dirty="0"/>
          </a:p>
          <a:p>
            <a:endParaRPr lang="pt-BR" dirty="0"/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Proposições (Átomos):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Variáveis que admitem valores $\{V, F\}$.</a:t>
            </a:r>
          </a:p>
          <a:p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$A$: "O sensor está ativo"; $B$: "O alarme soa".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Operadores Lógicos:</a:t>
            </a: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$\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(Não): Inverte o valor.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$\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land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(E): Verdade se ambos forem verdade.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$\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(Ou): Verdade se ao menos um for verdade.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$\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(Implicação): "Se A, então B". (Crítico para regras de decisão).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$\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leftrightarrow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(Bicondicional): "A se, e somente se, B".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2808D-2642-472F-D17B-BC27163CF9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77327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3C657-906C-3015-1846-4D8A44D08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F0666A-002A-8B9F-4F00-3D974BDDAC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7A1462-971C-D67D-9422-601C2E7C9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“Mais importante que memorizar tabelas verdade é compreender como os conectivos modelam relações lógicas.”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79B91-0597-65CD-E42E-DDA37F1C8C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26842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FEFDA-373D-DCED-7B23-790523066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3C5771-D8EC-3549-C955-E746A1584C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746D8D-0CE7-8442-D70D-14358937D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pt-BR" dirty="0"/>
          </a:p>
          <a:p>
            <a:r>
              <a:rPr lang="pt-BR" b="1" dirty="0"/>
              <a:t>“Inferência </a:t>
            </a:r>
            <a:r>
              <a:rPr lang="pt-BR" dirty="0"/>
              <a:t>consiste em derivar novos fatos a partir de conhecimento previamente representado.”</a:t>
            </a:r>
          </a:p>
          <a:p>
            <a:endParaRPr lang="pt-BR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falácia de </a:t>
            </a:r>
            <a:r>
              <a:rPr lang="pt-B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"afirmar o consequente"</a:t>
            </a:r>
            <a:r>
              <a:rPr lang="pt-BR" dirty="0"/>
              <a:t> ocorre quando assumimos que, porque o resultado de uma ação aconteceu, essa ação específica deve ser a causa, ignorando outras possibilidades.</a:t>
            </a:r>
          </a:p>
          <a:p>
            <a:r>
              <a:rPr lang="pt-BR" dirty="0"/>
              <a:t>Se choveu, então a rua está molhada (Se A, então B).</a:t>
            </a:r>
          </a:p>
          <a:p>
            <a:r>
              <a:rPr lang="pt-BR" dirty="0"/>
              <a:t>A rua está molhada (B é verdade).</a:t>
            </a:r>
          </a:p>
          <a:p>
            <a:r>
              <a:rPr lang="pt-BR" dirty="0"/>
              <a:t>Logo, choveu (Logo, A é verdade).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D7884-4CE1-481E-CBAF-CA09A1E80A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497473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pt-BR" dirty="0" err="1"/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 Lógica Proposicional é poderosa, mas é 'preguiçosa'. Se eu quiser dizer que 'Todos os alunos desta sala são inteligentes', na lógica proposicional eu teria que criar uma variável para cada um de vocês: $A_1, A_2, A_3...$ Isso é impossível em larga escala.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Lógica de Predicados (ou de Primeira Ordem)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resolve isso introduzindo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Objetos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Relações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pt-BR" dirty="0" err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27337-64F8-241F-A6B7-98E05509F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4AF8E5-FA62-EBBB-0438-D94422ABC4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8D070-40EA-1DEC-D920-B74092208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4DC04-87E2-1747-E916-3FAD8B1164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151329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Mostre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'</a:t>
            </a:r>
            <a:r>
              <a:rPr dirty="0" err="1"/>
              <a:t>abrimos</a:t>
            </a:r>
            <a:r>
              <a:rPr dirty="0"/>
              <a:t>' a </a:t>
            </a:r>
            <a:r>
              <a:rPr dirty="0" err="1"/>
              <a:t>caixa</a:t>
            </a:r>
            <a:r>
              <a:rPr dirty="0"/>
              <a:t> preta da </a:t>
            </a:r>
            <a:r>
              <a:rPr dirty="0" err="1"/>
              <a:t>proposição</a:t>
            </a:r>
            <a:r>
              <a:rPr dirty="0"/>
              <a:t>. Agora </a:t>
            </a:r>
            <a:r>
              <a:rPr dirty="0" err="1"/>
              <a:t>temos</a:t>
            </a:r>
            <a:r>
              <a:rPr dirty="0"/>
              <a:t> </a:t>
            </a:r>
            <a:r>
              <a:rPr dirty="0" err="1"/>
              <a:t>sujeitos</a:t>
            </a:r>
            <a:r>
              <a:rPr dirty="0"/>
              <a:t>, </a:t>
            </a:r>
            <a:r>
              <a:rPr dirty="0" err="1"/>
              <a:t>verbos</a:t>
            </a:r>
            <a:r>
              <a:rPr dirty="0"/>
              <a:t> e </a:t>
            </a:r>
            <a:r>
              <a:rPr dirty="0" err="1"/>
              <a:t>quantidades</a:t>
            </a:r>
            <a:r>
              <a:rPr dirty="0"/>
              <a:t>.</a:t>
            </a:r>
            <a:r>
              <a:rPr lang="pt-BR" dirty="0"/>
              <a:t> </a:t>
            </a:r>
          </a:p>
          <a:p>
            <a:endParaRPr lang="pt-BR" dirty="0"/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Lógica de Predicados (ou de Primeira Ordem)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resolve isso introduzindo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Objetos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Relações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Aqui, temos o 'Para todo' ($\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$) e o 'Existe' ($\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exists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$). Isso permite que a IA crie leis gerais. Em vez de dizer 'Se o sensor 1 detectar fumaça, soe o alarme; se o sensor 2 detectar...', nós dizemos: 'Para qualquer $x$, se $x$ for um sensor e $x$ detectar fumaça, então soe o alarme'. Mudamos o jogo de fatos isolados para regras universais."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Mostre como a IA deduz fatos novos a partir de regras gerais. Isso é a base dos sistemas inteligentes.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EE244-2876-A7A2-0A9A-FE8274244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3E8D8-E843-2D4C-D3EC-AAD929E672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C1F727-C4AD-4017-D709-BD226727F2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Mostre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a IA </a:t>
            </a:r>
            <a:r>
              <a:rPr dirty="0" err="1"/>
              <a:t>deduz</a:t>
            </a:r>
            <a:r>
              <a:rPr dirty="0"/>
              <a:t> </a:t>
            </a:r>
            <a:r>
              <a:rPr dirty="0" err="1"/>
              <a:t>fatos</a:t>
            </a:r>
            <a:r>
              <a:rPr dirty="0"/>
              <a:t> </a:t>
            </a:r>
            <a:r>
              <a:rPr dirty="0" err="1"/>
              <a:t>novos</a:t>
            </a:r>
            <a:r>
              <a:rPr dirty="0"/>
              <a:t> a </a:t>
            </a:r>
            <a:r>
              <a:rPr dirty="0" err="1"/>
              <a:t>partir</a:t>
            </a:r>
            <a:r>
              <a:rPr dirty="0"/>
              <a:t> de </a:t>
            </a:r>
            <a:r>
              <a:rPr dirty="0" err="1"/>
              <a:t>regras</a:t>
            </a:r>
            <a:r>
              <a:rPr dirty="0"/>
              <a:t> </a:t>
            </a:r>
            <a:r>
              <a:rPr dirty="0" err="1"/>
              <a:t>gerais</a:t>
            </a:r>
            <a:r>
              <a:rPr dirty="0"/>
              <a:t>. </a:t>
            </a:r>
            <a:r>
              <a:rPr dirty="0" err="1"/>
              <a:t>Isso</a:t>
            </a:r>
            <a:r>
              <a:rPr dirty="0"/>
              <a:t> é a base dos </a:t>
            </a:r>
            <a:r>
              <a:rPr dirty="0" err="1"/>
              <a:t>sistemas</a:t>
            </a:r>
            <a:r>
              <a:rPr dirty="0"/>
              <a:t> </a:t>
            </a:r>
            <a:r>
              <a:rPr dirty="0" err="1"/>
              <a:t>inteligentes</a:t>
            </a:r>
            <a:r>
              <a:rPr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818AA-D70B-1C96-C87F-A7ABBA062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815609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Destaque que o SE foi a primeira onda de IA de sucesso. O conhecimento é 'clonado' de um humano para a máquina.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"A lógica pura é ótima para estados estáticos, mas sofre com o </a:t>
            </a:r>
            <a:r>
              <a:rPr lang="pt-BR" b="1" dirty="0"/>
              <a:t>Frame </a:t>
            </a:r>
            <a:r>
              <a:rPr lang="pt-BR" b="1" dirty="0" err="1"/>
              <a:t>Problem</a:t>
            </a:r>
            <a:r>
              <a:rPr lang="pt-BR" dirty="0"/>
              <a:t>: como descrever que, ao mover um bloco, a cor da mesa não mudou? </a:t>
            </a:r>
          </a:p>
          <a:p>
            <a:endParaRPr lang="pt-BR" dirty="0"/>
          </a:p>
          <a:p>
            <a:r>
              <a:rPr lang="pt-BR" dirty="0"/>
              <a:t>Até agora, vimos Lógica de Predicados. Se tentássemos planejar usando apenas lógica pura, teríamos um pesadelo computacional: precisaríamos de axiomas para dizer que, se eu movo uma peça de xadrez, a cor da mesa não muda, o clima lá fora não muda e a gravidade continua funcionando. Isso é o </a:t>
            </a:r>
            <a:r>
              <a:rPr lang="pt-BR" i="1" dirty="0"/>
              <a:t>Frame Problem</a:t>
            </a:r>
            <a:r>
              <a:rPr lang="pt-B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2E34A-B1B5-3140-8FE1-A62712FD6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9FE61B-9260-BE88-DE85-81D579FCBE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BC739C-663B-C06B-644C-9FD0907CFF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0799D-1328-E0BB-156D-1758E928F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041737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D2D1F-5EFA-E248-EB22-41612CD72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A7606A-C813-A343-38B3-1630CA1D76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A0FB4-8EC6-A6D1-9139-A3EF91787C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b="1" dirty="0"/>
              <a:t>Busca:</a:t>
            </a:r>
            <a:r>
              <a:rPr lang="pt-BR" dirty="0"/>
              <a:t> É como seguir um GPS. Você está no ponto A, quer ir para o B. As ruas já existem.</a:t>
            </a:r>
          </a:p>
          <a:p>
            <a:r>
              <a:rPr lang="pt-BR" b="1" dirty="0"/>
              <a:t>Planejamento:</a:t>
            </a:r>
            <a:r>
              <a:rPr lang="pt-BR" dirty="0"/>
              <a:t> É como criar uma receita de bolo. Você tem os ingredientes (estado inicial), quer o bolo pronto (objetivo). Você precisa decidir a ordem de quebrar ovos, bater e assar. Se você assar antes de quebrar os ovos, o plano falha (violação de pré-condição).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02F1B-E244-BBC1-C338-1345C907E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554508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F6A81-3572-32AA-010B-02ED6FC15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25A751-94A7-BAD8-5CB1-8CA4C52F9B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F4172-97EF-D3FF-2E10-B8230FB660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"Agora que sabemos que existem várias formas de planejar, vamos focar na técnica que fundou as bases modernas: o STRIPS. Ele resolveu um problema que parecia impossível na época — o Frame Problem."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A59AE-138B-3B7C-3CBC-572F60E50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304733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9F9AD-8E2F-3310-E6FE-BA7FF134D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6B99FA-F54C-728E-343B-385C341874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6BE19C-5749-8291-6C0E-617CB23F7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O STRIPS, introduzido na década de 70, simplifica isso. </a:t>
            </a:r>
            <a:r>
              <a:rPr dirty="0" err="1"/>
              <a:t>Explique</a:t>
            </a:r>
            <a:r>
              <a:rPr dirty="0"/>
              <a:t> o Frame Problem: STRIPS assume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muda</a:t>
            </a:r>
            <a:r>
              <a:rPr dirty="0"/>
              <a:t> </a:t>
            </a:r>
            <a:r>
              <a:rPr dirty="0" err="1"/>
              <a:t>explicitamente</a:t>
            </a:r>
            <a:r>
              <a:rPr dirty="0"/>
              <a:t> </a:t>
            </a:r>
            <a:r>
              <a:rPr dirty="0" err="1"/>
              <a:t>permanece</a:t>
            </a:r>
            <a:r>
              <a:rPr dirty="0"/>
              <a:t> </a:t>
            </a:r>
            <a:r>
              <a:rPr dirty="0" err="1"/>
              <a:t>igual</a:t>
            </a:r>
            <a:r>
              <a:rPr dirty="0"/>
              <a:t>. </a:t>
            </a:r>
            <a:r>
              <a:rPr dirty="0" err="1"/>
              <a:t>Isso</a:t>
            </a:r>
            <a:r>
              <a:rPr dirty="0"/>
              <a:t> </a:t>
            </a:r>
            <a:r>
              <a:rPr dirty="0" err="1"/>
              <a:t>economiza</a:t>
            </a:r>
            <a:r>
              <a:rPr dirty="0"/>
              <a:t> </a:t>
            </a:r>
            <a:r>
              <a:rPr dirty="0" err="1"/>
              <a:t>memória</a:t>
            </a:r>
            <a:r>
              <a:rPr dirty="0"/>
              <a:t> e </a:t>
            </a:r>
            <a:r>
              <a:rPr dirty="0" err="1"/>
              <a:t>processamento</a:t>
            </a:r>
            <a:r>
              <a:rPr dirty="0"/>
              <a:t>.</a:t>
            </a:r>
            <a:endParaRPr lang="pt-BR" dirty="0"/>
          </a:p>
          <a:p>
            <a:endParaRPr lang="pt-BR" dirty="0"/>
          </a:p>
          <a:p>
            <a:r>
              <a:rPr lang="pt-BR" b="1" dirty="0"/>
              <a:t>Porque transforma o planejamento em um problema de busca no espaço de estados. Em vez de provar teoremas complexos, o agente verifica: "Tenho as pré-condições? Sim. Então aplico a ação, apago o que mudou e somo o que ganhei".</a:t>
            </a:r>
          </a:p>
          <a:p>
            <a:endParaRPr lang="pt-BR" b="1" dirty="0"/>
          </a:p>
          <a:p>
            <a:r>
              <a:rPr lang="pt-BR" b="1" dirty="0"/>
              <a:t>O que é? Uma linguagem de formalização de ações para agentes inteligentes.</a:t>
            </a:r>
          </a:p>
          <a:p>
            <a:r>
              <a:rPr lang="pt-BR" b="1" dirty="0"/>
              <a:t>A Filosofia: Focar apenas no que muda.</a:t>
            </a:r>
          </a:p>
          <a:p>
            <a:endParaRPr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6B1DC-8D37-5F19-3674-3FCB8A2C28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406879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162DE-BF3D-C45F-8DA9-B2711C181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A06718-DB74-3F27-6F4A-E77B1B9DCC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9FC53-72ED-87D4-F3F1-601FFFC36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embora o STRIPS seja a base, ele é "otimista" demais para o mundo real (ele assume que ações nunca falham e que o mundo é estático). Isso abre a porta para falar de </a:t>
            </a:r>
            <a:r>
              <a:rPr lang="pt-BR" b="1" dirty="0"/>
              <a:t>PDDL</a:t>
            </a:r>
            <a:r>
              <a:rPr lang="pt-BR" dirty="0"/>
              <a:t> (</a:t>
            </a:r>
            <a:r>
              <a:rPr lang="pt-BR" i="1" dirty="0"/>
              <a:t>Planning Domain </a:t>
            </a:r>
            <a:r>
              <a:rPr lang="pt-BR" i="1" dirty="0" err="1"/>
              <a:t>Definition</a:t>
            </a:r>
            <a:r>
              <a:rPr lang="pt-BR" i="1" dirty="0"/>
              <a:t> </a:t>
            </a:r>
            <a:r>
              <a:rPr lang="pt-BR" i="1" dirty="0" err="1"/>
              <a:t>Language</a:t>
            </a:r>
            <a:r>
              <a:rPr lang="pt-BR" dirty="0"/>
              <a:t>) no futuro, que é a evolução moderna desse conceito.</a:t>
            </a:r>
          </a:p>
          <a:p>
            <a:endParaRPr lang="pt-BR" b="1" dirty="0"/>
          </a:p>
          <a:p>
            <a:endParaRPr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0601B-42D1-368E-C54A-FF6417870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593115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7031F-815A-27BF-FD13-94EA54663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EF7CC6-147C-D417-63F0-D77213627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272959-C36E-EE13-7975-DC35083436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pt-BR" b="1" dirty="0"/>
          </a:p>
          <a:p>
            <a:r>
              <a:rPr lang="pt-B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Limpo(X)</a:t>
            </a:r>
            <a:r>
              <a:rPr lang="pt-BR" b="1" dirty="0"/>
              <a:t> significa literalmente: "O topo do bloco X está livre. Não há nenhum outro bloco em cima dele."</a:t>
            </a:r>
            <a:endParaRPr lang="pt-BR" dirty="0"/>
          </a:p>
          <a:p>
            <a:r>
              <a:rPr lang="pt-BR" dirty="0"/>
              <a:t>Por que isso é vital? Porque o braço robótico tem limitações físicas:</a:t>
            </a:r>
          </a:p>
          <a:p>
            <a:r>
              <a:rPr lang="pt-BR" dirty="0"/>
              <a:t>Ele não consegue "pegar" o Bloco A se o Bloco C estiver em cima dele. (O Bloco A precisa estar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Limpo</a:t>
            </a:r>
            <a:r>
              <a:rPr lang="pt-BR" dirty="0"/>
              <a:t>).</a:t>
            </a:r>
          </a:p>
          <a:p>
            <a:r>
              <a:rPr lang="pt-BR" dirty="0"/>
              <a:t>Ele não consegue colocar um bloco em cima do Bloco B se já houver um Bloco D lá. (O Bloco B precisa estar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Limpo</a:t>
            </a:r>
            <a:r>
              <a:rPr lang="pt-BR" dirty="0"/>
              <a:t> para servir de base).</a:t>
            </a:r>
          </a:p>
          <a:p>
            <a:endParaRPr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BB4A8-92E9-3B89-A85A-46CB82B109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531475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2AA77-2BB4-0227-DB3E-FDD671FAC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DD5887-2015-7DF4-06E0-C582D3FBCC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95CEC-902F-810E-460B-7E5ECA0F9E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A beleza do STRIPS (o </a:t>
            </a:r>
            <a:r>
              <a:rPr lang="pt-BR" i="1" dirty="0"/>
              <a:t>Frame </a:t>
            </a:r>
            <a:r>
              <a:rPr lang="pt-BR" i="1" dirty="0" err="1"/>
              <a:t>Problem</a:t>
            </a:r>
            <a:r>
              <a:rPr lang="pt-BR" dirty="0"/>
              <a:t> resolvido) é que tudo o que não estava na Delete </a:t>
            </a:r>
            <a:r>
              <a:rPr lang="pt-BR" dirty="0" err="1"/>
              <a:t>List</a:t>
            </a:r>
            <a:r>
              <a:rPr lang="pt-BR" dirty="0"/>
              <a:t> simplesmente continua valendo.</a:t>
            </a:r>
          </a:p>
          <a:p>
            <a:endParaRPr lang="pt-BR" b="1" dirty="0"/>
          </a:p>
          <a:p>
            <a:r>
              <a:rPr lang="pt-BR" dirty="0"/>
              <a:t>Chame a atenção dos alunos para o fato de que </a:t>
            </a:r>
            <a:r>
              <a:rPr lang="pt-B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Limpo(A)</a:t>
            </a:r>
            <a:r>
              <a:rPr lang="pt-BR" b="1" dirty="0"/>
              <a:t> nunca foi apagado</a:t>
            </a:r>
            <a:r>
              <a:rPr lang="pt-BR" dirty="0"/>
              <a:t>. Por quê? Porque colocar o Bloco A em cima do Bloco B não coloca nada em cima do próprio Bloco A. O topo dele continua livre! Como a ação não afetou essa característica, o STRIPS não gastou processamento com ela. Essa é a grande eficiência do modelo. </a:t>
            </a:r>
          </a:p>
          <a:p>
            <a:endParaRPr lang="pt-BR" b="1" dirty="0"/>
          </a:p>
          <a:p>
            <a:r>
              <a:rPr lang="pt-BR" dirty="0"/>
              <a:t>O robô não recebe a ação (o "como fazer"). Ele recebe apenas o </a:t>
            </a:r>
            <a:r>
              <a:rPr lang="pt-BR" b="1" dirty="0"/>
              <a:t>Objetivo</a:t>
            </a:r>
            <a:r>
              <a:rPr lang="pt-BR" dirty="0"/>
              <a:t> (o "onde quero chegar"). O computador já possui o modelo STRIPS guardado na memória dele como um "manual de instruções" do que ele </a:t>
            </a:r>
            <a:r>
              <a:rPr lang="pt-BR" i="1" dirty="0"/>
              <a:t>pode</a:t>
            </a:r>
            <a:r>
              <a:rPr lang="pt-BR" dirty="0"/>
              <a:t> fazer.</a:t>
            </a:r>
          </a:p>
          <a:p>
            <a:endParaRPr lang="pt-BR" b="1" dirty="0"/>
          </a:p>
          <a:p>
            <a:r>
              <a:rPr lang="pt-BR" dirty="0"/>
              <a:t>Ele olha para o Objetivo, olha para o Estado Inicial, e usa um algoritmo de busca (como uma Busca em Grafo, A*, etc.) p</a:t>
            </a:r>
          </a:p>
          <a:p>
            <a:endParaRPr lang="pt-BR" b="1" dirty="0"/>
          </a:p>
          <a:p>
            <a:endParaRPr lang="pt-BR" b="1" dirty="0"/>
          </a:p>
          <a:p>
            <a:endParaRPr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431F2-EC3A-F07A-2B69-2EA7C83653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429423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717C4-6E25-F67C-0467-9E42C80E1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A3096-7DF0-F247-3F22-285562D1DB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F2218-521B-420A-7C2F-EFD8AB90CA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A beleza do STRIPS (o </a:t>
            </a:r>
            <a:r>
              <a:rPr lang="pt-BR" i="1" dirty="0"/>
              <a:t>Frame </a:t>
            </a:r>
            <a:r>
              <a:rPr lang="pt-BR" i="1" dirty="0" err="1"/>
              <a:t>Problem</a:t>
            </a:r>
            <a:r>
              <a:rPr lang="pt-BR" dirty="0"/>
              <a:t> resolvido) é que tudo o que não estava na Delete </a:t>
            </a:r>
            <a:r>
              <a:rPr lang="pt-BR" dirty="0" err="1"/>
              <a:t>List</a:t>
            </a:r>
            <a:r>
              <a:rPr lang="pt-BR" dirty="0"/>
              <a:t> simplesmente continua valendo.</a:t>
            </a:r>
          </a:p>
          <a:p>
            <a:endParaRPr lang="pt-BR" b="1" dirty="0"/>
          </a:p>
          <a:p>
            <a:r>
              <a:rPr lang="pt-BR" dirty="0"/>
              <a:t>Chame a atenção dos alunos para o fato de que </a:t>
            </a:r>
            <a:r>
              <a:rPr lang="pt-B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Limpo(A)</a:t>
            </a:r>
            <a:r>
              <a:rPr lang="pt-BR" b="1" dirty="0"/>
              <a:t> nunca foi apagado</a:t>
            </a:r>
            <a:r>
              <a:rPr lang="pt-BR" dirty="0"/>
              <a:t>. Por quê? Porque colocar o Bloco A em cima do Bloco B não coloca nada em cima do próprio Bloco A. O topo dele continua livre! Como a ação não afetou essa característica, o STRIPS não gastou processamento com ela. Essa é a grande eficiência do modelo. </a:t>
            </a:r>
          </a:p>
          <a:p>
            <a:endParaRPr lang="pt-BR" b="1" dirty="0"/>
          </a:p>
          <a:p>
            <a:r>
              <a:rPr lang="pt-BR" dirty="0"/>
              <a:t>O robô não recebe a ação (o "como fazer"). Ele recebe apenas o </a:t>
            </a:r>
            <a:r>
              <a:rPr lang="pt-BR" b="1" dirty="0"/>
              <a:t>Objetivo</a:t>
            </a:r>
            <a:r>
              <a:rPr lang="pt-BR" dirty="0"/>
              <a:t> (o "onde quero chegar"). O computador já possui o modelo STRIPS guardado na memória dele como um "manual de instruções" do que ele </a:t>
            </a:r>
            <a:r>
              <a:rPr lang="pt-BR" i="1" dirty="0"/>
              <a:t>pode</a:t>
            </a:r>
            <a:r>
              <a:rPr lang="pt-BR" dirty="0"/>
              <a:t> fazer.</a:t>
            </a:r>
          </a:p>
          <a:p>
            <a:endParaRPr lang="pt-BR" b="1" dirty="0"/>
          </a:p>
          <a:p>
            <a:r>
              <a:rPr lang="pt-BR" dirty="0"/>
              <a:t>Ele olha para o Objetivo, olha para o Estado Inicial, e usa um algoritmo de busca (como uma Busca em Grafo, A*, etc.) p</a:t>
            </a:r>
          </a:p>
          <a:p>
            <a:endParaRPr lang="pt-BR" b="1" dirty="0"/>
          </a:p>
          <a:p>
            <a:endParaRPr lang="pt-BR" b="1" dirty="0"/>
          </a:p>
          <a:p>
            <a:endParaRPr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D06BE-BDD4-0874-38A7-5286B0C954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796065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a analogia do carro: o algoritmo de busca dirige, mas quem diz por onde pode passar são as regras STRIPS.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E0486-BFF5-D3C7-7E96-C6DF89DBA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52B92-D307-C496-8F97-D3244A53A5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36AEA-DDF4-FAA8-03C9-2E251644DA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a analogia do carro: o algoritmo de busca dirige, mas quem diz por onde pode passar são as regras STRIPS.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0995B-2E7C-3A0C-EAD9-CCD1C7B519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103209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31DB1-DE8A-1C31-6251-13122CE15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E0A981-34FB-2CD3-B655-FFF70C1419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7EFCA-9A08-56C5-4D8E-1193005AD7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 Nodos Vermelhos (Inválidos):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Mostre que o STRIPS "corta" esses ramos antes mesmo do A* tentar calcular qualquer coisa. Isso economiza memória.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Heurística $h(n)$: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Sokoban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uma $h(n)$ comum é a distância de Manhattan do bloco até o alvo. Note que nos primeiros passos ela não muda ($h=2$), então o A* se guia pelo custo acumulado $g(n)$ até encontrar uma posição de onde possa empurrar.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"Pulo do Gato":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Destaque o estado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S7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É dele que nasce a primeira ação de Empurrar. O STRIPS valida que existe um espaço vazio para a caixa se mover.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b="1" dirty="0"/>
              <a:t>💡 Dica de Ouro para fechar o tema:</a:t>
            </a:r>
          </a:p>
          <a:p>
            <a:r>
              <a:rPr lang="pt-BR" dirty="0"/>
              <a:t>Pergunte aos alunos: </a:t>
            </a:r>
            <a:r>
              <a:rPr lang="pt-BR" i="1" dirty="0"/>
              <a:t>"O que acontece se o bloco B for empurrado para um canto de onde não pode sair?"</a:t>
            </a:r>
            <a:r>
              <a:rPr lang="pt-BR" dirty="0"/>
              <a:t>. Isso é um </a:t>
            </a:r>
            <a:r>
              <a:rPr lang="pt-BR" b="1" dirty="0"/>
              <a:t>Deadlock</a:t>
            </a:r>
            <a:r>
              <a:rPr lang="pt-BR" dirty="0"/>
              <a:t>. O A* continuará tentando outros caminhos, mas o STRIPS dirá que nenhuma ação de "Empurrar" é possível a partir dali. Isso mostra como a lógica (STRIPS) define os limites do que o robô pode "sonhar" em fazer.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C7DA7-4CEF-4E91-D428-7B580AAA3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954790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5CDF1-9C3D-AD56-769E-E235FAE07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1E443-5180-EAF8-D1BD-73C4F31F95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B468C-BC1C-D652-09A6-9F40358257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 Nodos Vermelhos (Inválidos):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Mostre que o STRIPS "corta" esses ramos antes mesmo do A* tentar calcular qualquer coisa. Isso economiza memória.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Heurística $h(n)$: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Sokoban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uma $h(n)$ comum é a distância de Manhattan do bloco até o alvo. Note que nos primeiros passos ela não muda ($h=2$), então o A* se guia pelo custo acumulado $g(n)$ até encontrar uma posição de onde possa empurrar.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"Pulo do Gato":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Destaque o estado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S7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É dele que nasce a primeira ação de Empurrar. O STRIPS valida que existe um espaço vazio para a caixa se mover.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b="1" dirty="0"/>
              <a:t>💡 Dica de Ouro para fechar o tema:</a:t>
            </a:r>
          </a:p>
          <a:p>
            <a:r>
              <a:rPr lang="pt-BR" dirty="0"/>
              <a:t>Pergunte aos alunos: </a:t>
            </a:r>
            <a:r>
              <a:rPr lang="pt-BR" i="1" dirty="0"/>
              <a:t>"O que acontece se o bloco B for empurrado para um canto de onde não pode sair?"</a:t>
            </a:r>
            <a:r>
              <a:rPr lang="pt-BR" dirty="0"/>
              <a:t>. Isso é um </a:t>
            </a:r>
            <a:r>
              <a:rPr lang="pt-BR" b="1" dirty="0"/>
              <a:t>Deadlock</a:t>
            </a:r>
            <a:r>
              <a:rPr lang="pt-BR" dirty="0"/>
              <a:t>. O A* continuará tentando outros caminhos, mas o STRIPS dirá que nenhuma ação de "Empurrar" é possível a partir dali. Isso mostra como a lógica (STRIPS) define os limites do que o robô pode "sonhar" em fazer.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E246D-F9AE-DFD3-4695-1A57DA87CE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28959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Mostre que o Escalonamento é sobre lidar com recursos finitos e conflitos de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D4738-BFC1-90B7-FD95-648F79D27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2C8569-F9B3-D9B1-6614-F97DF0B2CE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CBD944-452A-71B6-56CD-D432F8D36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Mostre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Escalonamento</a:t>
            </a:r>
            <a:r>
              <a:rPr dirty="0"/>
              <a:t> é </a:t>
            </a:r>
            <a:r>
              <a:rPr dirty="0" err="1"/>
              <a:t>sobre</a:t>
            </a:r>
            <a:r>
              <a:rPr dirty="0"/>
              <a:t> lidar com </a:t>
            </a:r>
            <a:r>
              <a:rPr dirty="0" err="1"/>
              <a:t>recursos</a:t>
            </a:r>
            <a:r>
              <a:rPr dirty="0"/>
              <a:t> </a:t>
            </a:r>
            <a:r>
              <a:rPr dirty="0" err="1"/>
              <a:t>finitos</a:t>
            </a:r>
            <a:r>
              <a:rPr dirty="0"/>
              <a:t> e </a:t>
            </a:r>
            <a:r>
              <a:rPr dirty="0" err="1"/>
              <a:t>conflitos</a:t>
            </a:r>
            <a:r>
              <a:rPr dirty="0"/>
              <a:t> de tempo.</a:t>
            </a:r>
            <a:endParaRPr lang="pt-BR" dirty="0"/>
          </a:p>
          <a:p>
            <a:endParaRPr lang="pt-BR" dirty="0"/>
          </a:p>
          <a:p>
            <a:r>
              <a:rPr lang="pt-BR" b="1" dirty="0"/>
              <a:t>Planejamento vs. Escalonamento:</a:t>
            </a:r>
            <a:r>
              <a:rPr lang="pt-BR" dirty="0"/>
              <a:t> Até agora, com o STRIPS e a busca em espaço de estados, focamos na </a:t>
            </a:r>
            <a:r>
              <a:rPr lang="pt-BR" b="1" dirty="0"/>
              <a:t>causalidade</a:t>
            </a:r>
            <a:r>
              <a:rPr lang="pt-BR" dirty="0"/>
              <a:t>: "Eu preciso abrir a porta </a:t>
            </a:r>
            <a:r>
              <a:rPr lang="pt-BR" i="1" dirty="0"/>
              <a:t>antes</a:t>
            </a:r>
            <a:r>
              <a:rPr lang="pt-BR" dirty="0"/>
              <a:t> de passar por ela". Isso é Planejamento. O </a:t>
            </a:r>
            <a:r>
              <a:rPr lang="pt-BR" b="1" dirty="0"/>
              <a:t>Escalonamento</a:t>
            </a:r>
            <a:r>
              <a:rPr lang="pt-BR" dirty="0"/>
              <a:t>, por outro lado, foca em </a:t>
            </a:r>
            <a:r>
              <a:rPr lang="pt-BR" b="1" dirty="0"/>
              <a:t>restrições de recursos e tempo</a:t>
            </a:r>
            <a:r>
              <a:rPr lang="pt-BR" dirty="0"/>
              <a:t>: "O robô A e o robô B podem usar a mesma porta ao mesmo tempo? Quanto tempo leva para atravessar?".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C246C-04A1-EFA5-8E64-5580232410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501268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A2B9A-854B-22E2-1745-CE0AB8062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172497-44A4-F301-E404-F165629D44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6F3DF-8ABE-6BA6-B4FB-A25D2038B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Mostre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Escalonamento</a:t>
            </a:r>
            <a:r>
              <a:rPr dirty="0"/>
              <a:t> é </a:t>
            </a:r>
            <a:r>
              <a:rPr dirty="0" err="1"/>
              <a:t>sobre</a:t>
            </a:r>
            <a:r>
              <a:rPr dirty="0"/>
              <a:t> lidar com </a:t>
            </a:r>
            <a:r>
              <a:rPr dirty="0" err="1"/>
              <a:t>recursos</a:t>
            </a:r>
            <a:r>
              <a:rPr dirty="0"/>
              <a:t> </a:t>
            </a:r>
            <a:r>
              <a:rPr dirty="0" err="1"/>
              <a:t>finitos</a:t>
            </a:r>
            <a:r>
              <a:rPr dirty="0"/>
              <a:t> e </a:t>
            </a:r>
            <a:r>
              <a:rPr dirty="0" err="1"/>
              <a:t>conflitos</a:t>
            </a:r>
            <a:r>
              <a:rPr dirty="0"/>
              <a:t> de tempo.</a:t>
            </a:r>
            <a:endParaRPr lang="pt-BR" dirty="0"/>
          </a:p>
          <a:p>
            <a:endParaRPr lang="pt-BR" dirty="0"/>
          </a:p>
          <a:p>
            <a:r>
              <a:rPr lang="pt-BR" b="1" dirty="0"/>
              <a:t>Planejamento vs. Escalonamento:</a:t>
            </a:r>
            <a:r>
              <a:rPr lang="pt-BR" dirty="0"/>
              <a:t> Até agora, com o STRIPS e a busca em espaço de estados, focamos na </a:t>
            </a:r>
            <a:r>
              <a:rPr lang="pt-BR" b="1" dirty="0"/>
              <a:t>causalidade</a:t>
            </a:r>
            <a:r>
              <a:rPr lang="pt-BR" dirty="0"/>
              <a:t>: "Eu preciso abrir a porta </a:t>
            </a:r>
            <a:r>
              <a:rPr lang="pt-BR" i="1" dirty="0"/>
              <a:t>antes</a:t>
            </a:r>
            <a:r>
              <a:rPr lang="pt-BR" dirty="0"/>
              <a:t> de passar por ela". Isso é Planejamento. O </a:t>
            </a:r>
            <a:r>
              <a:rPr lang="pt-BR" b="1" dirty="0"/>
              <a:t>Escalonamento</a:t>
            </a:r>
            <a:r>
              <a:rPr lang="pt-BR" dirty="0"/>
              <a:t>, por outro lado, foca em </a:t>
            </a:r>
            <a:r>
              <a:rPr lang="pt-BR" b="1" dirty="0"/>
              <a:t>restrições de recursos e tempo</a:t>
            </a:r>
            <a:r>
              <a:rPr lang="pt-BR" dirty="0"/>
              <a:t>: "O robô A e o robô B podem usar a mesma porta ao mesmo tempo? Quanto tempo leva para atravessar?".</a:t>
            </a:r>
          </a:p>
          <a:p>
            <a:endParaRPr lang="pt-BR" dirty="0"/>
          </a:p>
          <a:p>
            <a:r>
              <a:rPr lang="pt-BR" b="1" dirty="0"/>
              <a:t>1. O Conceito de "Recurso":</a:t>
            </a:r>
            <a:r>
              <a:rPr lang="pt-BR" dirty="0"/>
              <a:t> Explique que recurso não é só uma máquina. Pode ser </a:t>
            </a:r>
            <a:r>
              <a:rPr lang="pt-BR" b="1" dirty="0"/>
              <a:t>espaço</a:t>
            </a:r>
            <a:r>
              <a:rPr lang="pt-BR" dirty="0"/>
              <a:t> (uma vaga de estacionamento), </a:t>
            </a:r>
            <a:r>
              <a:rPr lang="pt-BR" b="1" dirty="0"/>
              <a:t>energia</a:t>
            </a:r>
            <a:r>
              <a:rPr lang="pt-BR" dirty="0"/>
              <a:t> (consumo elétrico da fábrica) ou </a:t>
            </a:r>
            <a:r>
              <a:rPr lang="pt-BR" b="1" dirty="0"/>
              <a:t>pessoas</a:t>
            </a:r>
            <a:r>
              <a:rPr lang="pt-BR" dirty="0"/>
              <a:t> (especialistas que não podem estar em dois lugares ao mesmo tempo).</a:t>
            </a:r>
          </a:p>
          <a:p>
            <a:r>
              <a:rPr lang="pt-BR" b="1" dirty="0"/>
              <a:t>2. O "Gargalo":</a:t>
            </a:r>
            <a:r>
              <a:rPr lang="pt-BR" dirty="0"/>
              <a:t> Mencione que o Escalonamento é o terror dos gestores porque um atraso em uma única tarefa "escalonada" pode gerar um efeito dominó em todo o resto do plano.</a:t>
            </a:r>
          </a:p>
          <a:p>
            <a:endParaRPr lang="pt-BR" dirty="0"/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A2719-7BB8-3222-578B-CF248AF70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60676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A66D3-9F47-0E61-718B-77608835D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28736F-60DB-E325-89DA-3C9B929188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EC232F-E19A-444C-9D9C-ADAB3E2ACB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pt-BR" dirty="0"/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CB6D2-7E85-33F4-1D2B-5DBF06EE3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71014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Essas são as componentes do modelo...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67D79-58F0-E4FF-0AEA-6C986EA32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9E379-8F2B-8FF5-2209-3D7037DA93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86CC96-3DBB-8ACC-C4FF-1CB10F91D0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Essas são as componentes do modelo... 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366EA-F325-0694-D5AE-AABCC95B6F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30909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74E54-C5B3-5EF7-534E-52EFCC257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A1D54-59D1-1E34-AFE3-2751285962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E5B59-3915-3D71-F5DF-DED305DA6A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A3A03-223A-CB97-9EC0-7EE9F2709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9474855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000C0-A6D5-CDDF-3B39-B26FEFFDD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EE07CB-0AED-E85E-9A12-878A60CC4E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FBCEF1-7D6E-4BE0-4E87-934BB176B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o exemplo do Sudoku 3x3 que discutimos. A IA 'poda' ramos da árvore de busca assim que uma regra é violada.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2BCF3-5B64-316C-0E4A-CBEEC6611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765574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Mostre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mercado </a:t>
            </a:r>
            <a:r>
              <a:rPr dirty="0" err="1"/>
              <a:t>usa</a:t>
            </a:r>
            <a:r>
              <a:rPr dirty="0"/>
              <a:t> </a:t>
            </a:r>
            <a:r>
              <a:rPr dirty="0" err="1"/>
              <a:t>exatamente</a:t>
            </a:r>
            <a:r>
              <a:rPr dirty="0"/>
              <a:t> </a:t>
            </a:r>
            <a:r>
              <a:rPr dirty="0" err="1"/>
              <a:t>essas</a:t>
            </a:r>
            <a:r>
              <a:rPr dirty="0"/>
              <a:t> ferramentas. </a:t>
            </a:r>
            <a:r>
              <a:rPr dirty="0" err="1"/>
              <a:t>Isso</a:t>
            </a:r>
            <a:r>
              <a:rPr dirty="0"/>
              <a:t> </a:t>
            </a:r>
            <a:r>
              <a:rPr dirty="0" err="1"/>
              <a:t>dá</a:t>
            </a:r>
            <a:r>
              <a:rPr dirty="0"/>
              <a:t> valor </a:t>
            </a:r>
            <a:r>
              <a:rPr dirty="0" err="1"/>
              <a:t>profissional</a:t>
            </a:r>
            <a:r>
              <a:rPr dirty="0"/>
              <a:t> à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Encerre</a:t>
            </a:r>
            <a:r>
              <a:rPr dirty="0"/>
              <a:t> com a </a:t>
            </a:r>
            <a:r>
              <a:rPr dirty="0" err="1"/>
              <a:t>frase</a:t>
            </a:r>
            <a:r>
              <a:rPr dirty="0"/>
              <a:t>: 'A IA </a:t>
            </a:r>
            <a:r>
              <a:rPr dirty="0" err="1"/>
              <a:t>Simbólica</a:t>
            </a:r>
            <a:r>
              <a:rPr dirty="0"/>
              <a:t> é a IA </a:t>
            </a:r>
            <a:r>
              <a:rPr dirty="0" err="1"/>
              <a:t>Explicável</a:t>
            </a:r>
            <a:r>
              <a:rPr dirty="0"/>
              <a:t>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853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02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18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422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83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11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92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887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860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81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701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4035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Rogerio-mack/work/blob/main/Rule_Based_Programming.ipynb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optimization/scheduling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buguroo/pykno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3057F-351D-B656-52BE-0A529DFD7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4D2F8-5A3D-016E-E835-D2B6032E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0070C0"/>
                </a:solidFill>
              </a:rPr>
              <a:t>IA </a:t>
            </a:r>
            <a:r>
              <a:rPr lang="pt-BR" dirty="0" err="1">
                <a:solidFill>
                  <a:srgbClr val="0070C0"/>
                </a:solidFill>
              </a:rPr>
              <a:t>SIMbóLICA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21CBBE-E1EF-B2E2-12FF-EEB719785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403" y="1848505"/>
            <a:ext cx="7655194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Lógica Proposicional, Lógica de Predicados</a:t>
            </a:r>
            <a:r>
              <a:rPr lang="pt-BR" altLang="pt-BR" sz="2400" b="1" dirty="0">
                <a:latin typeface="Arial" panose="020B0604020202020204" pitchFamily="34" charset="0"/>
              </a:rPr>
              <a:t>,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Planejamento Automatizado e Escalonamento (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Scheduling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b="1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Rogério de Oliveira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b="1" dirty="0">
                <a:solidFill>
                  <a:schemeClr val="accent2"/>
                </a:solidFill>
                <a:latin typeface="Arial" panose="020B0604020202020204" pitchFamily="34" charset="0"/>
              </a:rPr>
              <a:t>PCS - Escola Politécnica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sz="1600" dirty="0">
                <a:latin typeface="Arial" panose="020B0604020202020204" pitchFamily="34" charset="0"/>
              </a:rPr>
              <a:t>2026-05-07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519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Motivação</a:t>
            </a:r>
            <a:r>
              <a:rPr dirty="0"/>
              <a:t>: O </a:t>
            </a:r>
            <a:r>
              <a:rPr dirty="0" err="1"/>
              <a:t>Desafio</a:t>
            </a:r>
            <a:r>
              <a:rPr dirty="0"/>
              <a:t> de Marte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3987771-7ABC-202B-03AD-455D0CD2F9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096" y="1898126"/>
            <a:ext cx="7607808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Cenário: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Rover precisa coletar uma amostra em uma cratera, mas sua bateria está em 30% e uma tempestade de areia se aproxima.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Lógica (Diagnóstico):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"Se o sensor de opacidade &gt; 80%, então tempestade detectada."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Planejamento (Estratégia):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"Qual a sequência de movimentos para chegar à cratera e voltar à base antes da bateria acabar?"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Escalonamento (Recursos):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"Tenho 2 braços robóticos. Posso perfurar o solo e transmitir dados simultaneamente ou a energia não suportará?"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Agenda da Aula</a:t>
            </a:r>
            <a:r>
              <a:rPr lang="pt-BR" dirty="0"/>
              <a:t>: IA </a:t>
            </a:r>
            <a:r>
              <a:rPr lang="pt-BR" dirty="0" err="1"/>
              <a:t>SIMbóLICA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62FDD83-011A-229F-06FB-4A162F84C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403" y="1709748"/>
            <a:ext cx="7655194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Lógica Proposicional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Lógica de Predicados: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Generalizando para Objetos e Relações.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dirty="0">
                <a:latin typeface="Arial" panose="020B0604020202020204" pitchFamily="34" charset="0"/>
              </a:rPr>
              <a:t> (Bônus) 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Sistemas Especialistas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Planejamento Automatizado: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Algoritmo para criar estratégias 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STRIPS e Busca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Escalonamento (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Scheduling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Restrições de tempo e recursos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b="1" dirty="0">
                <a:latin typeface="Arial" panose="020B0604020202020204" pitchFamily="34" charset="0"/>
              </a:rPr>
              <a:t>Conclusão, Onde Saber Mais e Atividade</a:t>
            </a: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D04EC-CE07-FE43-9A0C-9790D3DB9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57B53-1C8B-BD39-4214-FEEBD422C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rgbClr val="0070C0"/>
                </a:solidFill>
              </a:rPr>
              <a:t>Lógica</a:t>
            </a:r>
            <a:r>
              <a:rPr dirty="0">
                <a:solidFill>
                  <a:srgbClr val="0070C0"/>
                </a:solidFill>
              </a:rPr>
              <a:t> </a:t>
            </a:r>
            <a:r>
              <a:rPr dirty="0" err="1">
                <a:solidFill>
                  <a:srgbClr val="0070C0"/>
                </a:solidFill>
              </a:rPr>
              <a:t>Proposicional</a:t>
            </a:r>
            <a:endParaRPr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688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Lógica</a:t>
            </a:r>
            <a:r>
              <a:rPr dirty="0"/>
              <a:t> </a:t>
            </a:r>
            <a:r>
              <a:rPr dirty="0" err="1"/>
              <a:t>Proposicional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lnSpc>
                <a:spcPct val="150000"/>
              </a:lnSpc>
            </a:pPr>
            <a:r>
              <a:rPr b="1" dirty="0" err="1"/>
              <a:t>Proposições</a:t>
            </a:r>
            <a:r>
              <a:rPr dirty="0"/>
              <a:t>: </a:t>
            </a:r>
            <a:r>
              <a:rPr dirty="0" err="1"/>
              <a:t>Sentenças</a:t>
            </a:r>
            <a:r>
              <a:rPr dirty="0"/>
              <a:t> </a:t>
            </a:r>
            <a:r>
              <a:rPr dirty="0" err="1"/>
              <a:t>binárias</a:t>
            </a:r>
            <a:r>
              <a:rPr dirty="0"/>
              <a:t> (V </a:t>
            </a:r>
            <a:r>
              <a:rPr dirty="0" err="1"/>
              <a:t>ou</a:t>
            </a:r>
            <a:r>
              <a:rPr dirty="0"/>
              <a:t> F).</a:t>
            </a:r>
          </a:p>
          <a:p>
            <a:pPr>
              <a:lnSpc>
                <a:spcPct val="150000"/>
              </a:lnSpc>
            </a:pPr>
            <a:r>
              <a:rPr b="1" dirty="0" err="1"/>
              <a:t>Conectivos</a:t>
            </a:r>
            <a:r>
              <a:rPr dirty="0"/>
              <a:t>: ¬ (</a:t>
            </a:r>
            <a:r>
              <a:rPr dirty="0" err="1"/>
              <a:t>Não</a:t>
            </a:r>
            <a:r>
              <a:rPr dirty="0"/>
              <a:t>), ∧ (E), ∨ (Ou), → (</a:t>
            </a:r>
            <a:r>
              <a:rPr dirty="0" err="1"/>
              <a:t>Implicação</a:t>
            </a:r>
            <a:r>
              <a:rPr dirty="0"/>
              <a:t>).</a:t>
            </a:r>
          </a:p>
          <a:p>
            <a:pPr>
              <a:lnSpc>
                <a:spcPct val="150000"/>
              </a:lnSpc>
            </a:pPr>
            <a:r>
              <a:rPr b="1" dirty="0" err="1"/>
              <a:t>Exemplo</a:t>
            </a:r>
            <a:r>
              <a:rPr dirty="0"/>
              <a:t>: (</a:t>
            </a:r>
            <a:r>
              <a:rPr dirty="0" err="1"/>
              <a:t>Motor_Ruido</a:t>
            </a:r>
            <a:r>
              <a:rPr dirty="0"/>
              <a:t> ∧ </a:t>
            </a:r>
            <a:r>
              <a:rPr dirty="0" err="1"/>
              <a:t>Oleo_Baixo</a:t>
            </a:r>
            <a:r>
              <a:rPr dirty="0"/>
              <a:t>) → </a:t>
            </a:r>
            <a:r>
              <a:rPr dirty="0" err="1"/>
              <a:t>Alerta_Aceso</a:t>
            </a:r>
            <a:r>
              <a:rPr dirty="0"/>
              <a:t>.</a:t>
            </a:r>
          </a:p>
          <a:p>
            <a:pPr>
              <a:lnSpc>
                <a:spcPct val="150000"/>
              </a:lnSpc>
            </a:pPr>
            <a:r>
              <a:rPr b="1" dirty="0" err="1"/>
              <a:t>Inferência</a:t>
            </a:r>
            <a:r>
              <a:rPr b="1" dirty="0"/>
              <a:t>: Modus Ponens </a:t>
            </a:r>
            <a:r>
              <a:rPr lang="pt-BR" dirty="0"/>
              <a:t>(do latim "modo de afirmar")</a:t>
            </a:r>
          </a:p>
          <a:p>
            <a:pPr>
              <a:lnSpc>
                <a:spcPct val="150000"/>
              </a:lnSpc>
            </a:pPr>
            <a:endParaRPr lang="pt-BR" dirty="0"/>
          </a:p>
          <a:p>
            <a:pPr algn="ctr">
              <a:lnSpc>
                <a:spcPct val="150000"/>
              </a:lnSpc>
            </a:pPr>
            <a:r>
              <a:rPr b="1" dirty="0">
                <a:solidFill>
                  <a:schemeClr val="accent2"/>
                </a:solidFill>
              </a:rPr>
              <a:t>Se P → Q e P é </a:t>
            </a:r>
            <a:r>
              <a:rPr b="1" dirty="0" err="1">
                <a:solidFill>
                  <a:schemeClr val="accent2"/>
                </a:solidFill>
              </a:rPr>
              <a:t>verdade</a:t>
            </a:r>
            <a:r>
              <a:rPr b="1" dirty="0">
                <a:solidFill>
                  <a:schemeClr val="accent2"/>
                </a:solidFill>
              </a:rPr>
              <a:t>, logo Q é </a:t>
            </a:r>
            <a:r>
              <a:rPr b="1" dirty="0" err="1">
                <a:solidFill>
                  <a:schemeClr val="accent2"/>
                </a:solidFill>
              </a:rPr>
              <a:t>verdade</a:t>
            </a:r>
            <a:endParaRPr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F6881-D30C-D7FE-9739-EA43570E8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0D013-A6D3-C0F0-F95E-B343339C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Lógica</a:t>
            </a:r>
            <a:r>
              <a:rPr dirty="0"/>
              <a:t> </a:t>
            </a:r>
            <a:r>
              <a:rPr dirty="0" err="1"/>
              <a:t>Proposicional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F93BE-4A85-6EB6-55CF-423A901EA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126976"/>
            <a:ext cx="7290055" cy="4023360"/>
          </a:xfr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b="1" dirty="0" err="1"/>
              <a:t>Proposições</a:t>
            </a:r>
            <a:r>
              <a:rPr lang="pt-BR" b="1" dirty="0"/>
              <a:t> (Átomos)</a:t>
            </a:r>
            <a:r>
              <a:rPr dirty="0"/>
              <a:t>: </a:t>
            </a:r>
            <a:r>
              <a:rPr dirty="0" err="1"/>
              <a:t>Sentenças</a:t>
            </a:r>
            <a:r>
              <a:rPr dirty="0"/>
              <a:t> </a:t>
            </a:r>
            <a:r>
              <a:rPr dirty="0" err="1"/>
              <a:t>binárias</a:t>
            </a:r>
            <a:r>
              <a:rPr dirty="0"/>
              <a:t> (V </a:t>
            </a:r>
            <a:r>
              <a:rPr dirty="0" err="1"/>
              <a:t>ou</a:t>
            </a:r>
            <a:r>
              <a:rPr dirty="0"/>
              <a:t> F)</a:t>
            </a:r>
            <a:r>
              <a:rPr lang="pt-BR" dirty="0"/>
              <a:t>: </a:t>
            </a:r>
            <a:r>
              <a:rPr lang="pt-BR" dirty="0" err="1"/>
              <a:t>Oleo_Baixo</a:t>
            </a:r>
            <a:endParaRPr lang="pt-BR" dirty="0"/>
          </a:p>
          <a:p>
            <a:pPr>
              <a:lnSpc>
                <a:spcPct val="150000"/>
              </a:lnSpc>
            </a:pPr>
            <a:r>
              <a:rPr b="1" dirty="0" err="1"/>
              <a:t>Conectivos</a:t>
            </a:r>
            <a:r>
              <a:rPr dirty="0"/>
              <a:t>: ¬ (</a:t>
            </a:r>
            <a:r>
              <a:rPr dirty="0" err="1"/>
              <a:t>Não</a:t>
            </a:r>
            <a:r>
              <a:rPr dirty="0"/>
              <a:t>), ∧ (E), ∨ (Ou), → (</a:t>
            </a:r>
            <a:r>
              <a:rPr dirty="0" err="1"/>
              <a:t>Implicação</a:t>
            </a:r>
            <a:r>
              <a:rPr dirty="0"/>
              <a:t>).</a:t>
            </a:r>
          </a:p>
          <a:p>
            <a:pPr>
              <a:lnSpc>
                <a:spcPct val="150000"/>
              </a:lnSpc>
            </a:pPr>
            <a:r>
              <a:rPr b="1" dirty="0" err="1"/>
              <a:t>Exemplo</a:t>
            </a:r>
            <a:r>
              <a:rPr dirty="0"/>
              <a:t>: (</a:t>
            </a:r>
            <a:r>
              <a:rPr dirty="0" err="1"/>
              <a:t>Motor_Ruido</a:t>
            </a:r>
            <a:r>
              <a:rPr dirty="0"/>
              <a:t> ∧ </a:t>
            </a:r>
            <a:r>
              <a:rPr dirty="0" err="1"/>
              <a:t>Oleo_Baixo</a:t>
            </a:r>
            <a:r>
              <a:rPr dirty="0"/>
              <a:t>) → </a:t>
            </a:r>
            <a:r>
              <a:rPr dirty="0" err="1"/>
              <a:t>Alerta_Aceso</a:t>
            </a:r>
            <a:r>
              <a:rPr dirty="0"/>
              <a:t>.</a:t>
            </a:r>
          </a:p>
          <a:p>
            <a:pPr>
              <a:lnSpc>
                <a:spcPct val="150000"/>
              </a:lnSpc>
            </a:pPr>
            <a:r>
              <a:rPr b="1" dirty="0" err="1"/>
              <a:t>Inferência</a:t>
            </a:r>
            <a:r>
              <a:rPr b="1" dirty="0"/>
              <a:t>: Modus Ponens </a:t>
            </a:r>
            <a:r>
              <a:rPr lang="pt-BR" dirty="0"/>
              <a:t>(do latim "modo de afirmar")</a:t>
            </a:r>
          </a:p>
          <a:p>
            <a:pPr algn="ctr">
              <a:lnSpc>
                <a:spcPct val="150000"/>
              </a:lnSpc>
            </a:pPr>
            <a:r>
              <a:rPr b="1" dirty="0">
                <a:solidFill>
                  <a:schemeClr val="accent2"/>
                </a:solidFill>
              </a:rPr>
              <a:t>Se P → Q e P é </a:t>
            </a:r>
            <a:r>
              <a:rPr b="1" dirty="0" err="1">
                <a:solidFill>
                  <a:schemeClr val="accent2"/>
                </a:solidFill>
              </a:rPr>
              <a:t>verdade</a:t>
            </a:r>
            <a:r>
              <a:rPr b="1" dirty="0">
                <a:solidFill>
                  <a:schemeClr val="accent2"/>
                </a:solidFill>
              </a:rPr>
              <a:t>, logo Q é </a:t>
            </a:r>
            <a:r>
              <a:rPr b="1" dirty="0" err="1">
                <a:solidFill>
                  <a:schemeClr val="accent2"/>
                </a:solidFill>
              </a:rPr>
              <a:t>verdade</a:t>
            </a:r>
            <a:endParaRPr lang="pt-BR" b="1" dirty="0">
              <a:solidFill>
                <a:schemeClr val="accent2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chemeClr val="accent2"/>
                </a:solidFill>
              </a:rPr>
              <a:t>Definição formal: [(P → Q) ∧ P] → Q</a:t>
            </a:r>
          </a:p>
          <a:p>
            <a:pPr algn="ctr">
              <a:lnSpc>
                <a:spcPct val="150000"/>
              </a:lnSpc>
            </a:pPr>
            <a:endParaRPr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522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B6E88-BB80-E320-7469-260B4CA38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4CD14-9979-34D2-12D2-A7F47C658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Tabelas Verdade e Inferência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3D9EB8-D350-C1E0-68FE-92FC2D1E0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628" y="2084832"/>
            <a:ext cx="5334744" cy="2619741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67A4BF78-416E-A8EB-C1D6-A7B574722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939" y="5291185"/>
            <a:ext cx="6912367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IA: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 a Base de Conhecimento tem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sym typeface="Wingdings" panose="05000000000000000000" pitchFamily="2" charset="2"/>
              </a:rPr>
              <a:t> B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 o sensor diz que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é verdade, Inferimos qu</a:t>
            </a:r>
            <a:r>
              <a:rPr lang="pt-BR" altLang="pt-BR" dirty="0"/>
              <a:t>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automaticamente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536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6401E-A646-93E7-3EE1-261E9DC88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78E05-838E-A43A-5128-1C648C035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modus </a:t>
            </a:r>
            <a:r>
              <a:rPr lang="pt-BR" dirty="0" err="1"/>
              <a:t>tollens</a:t>
            </a:r>
            <a:r>
              <a:rPr lang="pt-BR" dirty="0"/>
              <a:t> &amp; INFERÊNCIA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C88FD-6E0D-EDF1-1855-8120D677E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126976"/>
            <a:ext cx="7290055" cy="4023360"/>
          </a:xfrm>
        </p:spPr>
        <p:txBody>
          <a:bodyPr wrap="square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pt-BR" dirty="0"/>
              <a:t>Enquanto o modus </a:t>
            </a:r>
            <a:r>
              <a:rPr lang="pt-BR" dirty="0" err="1"/>
              <a:t>ponens</a:t>
            </a:r>
            <a:r>
              <a:rPr lang="pt-BR" dirty="0"/>
              <a:t> afirma o antecedente P para concluir Q, o </a:t>
            </a:r>
            <a:r>
              <a:rPr lang="pt-BR" b="1" dirty="0"/>
              <a:t>modus </a:t>
            </a:r>
            <a:r>
              <a:rPr lang="pt-BR" b="1" dirty="0" err="1"/>
              <a:t>tollens</a:t>
            </a:r>
            <a:r>
              <a:rPr lang="pt-BR" b="1" dirty="0"/>
              <a:t> </a:t>
            </a:r>
            <a:r>
              <a:rPr lang="pt-BR" dirty="0"/>
              <a:t>nega o consequente  ~Q para concluir a negação do antecedente ~P.</a:t>
            </a:r>
          </a:p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chemeClr val="accent2"/>
                </a:solidFill>
              </a:rPr>
              <a:t>P → Q e, portanto, </a:t>
            </a:r>
          </a:p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chemeClr val="accent2"/>
                </a:solidFill>
              </a:rPr>
              <a:t>~Q → ~P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accent2"/>
                </a:solidFill>
              </a:rPr>
              <a:t>Cuidado com a Falácia de afirmar o consequente </a:t>
            </a:r>
            <a:r>
              <a:rPr lang="pt-BR" b="1" strike="sngStrike" dirty="0">
                <a:solidFill>
                  <a:srgbClr val="C00000"/>
                </a:solidFill>
              </a:rPr>
              <a:t>Q → P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accent2"/>
                </a:solidFill>
              </a:rPr>
              <a:t>https://logic-calculator.com/pt#p-%3Eq%26!q</a:t>
            </a:r>
          </a:p>
          <a:p>
            <a:pPr>
              <a:lnSpc>
                <a:spcPct val="150000"/>
              </a:lnSpc>
            </a:pPr>
            <a:endParaRPr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349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Limitações da Lógica Proposicional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lnSpc>
                <a:spcPct val="150000"/>
              </a:lnSpc>
            </a:pPr>
            <a:r>
              <a:rPr dirty="0" err="1"/>
              <a:t>Pouca</a:t>
            </a:r>
            <a:r>
              <a:rPr dirty="0"/>
              <a:t> </a:t>
            </a:r>
            <a:r>
              <a:rPr dirty="0" err="1"/>
              <a:t>Expressividade</a:t>
            </a:r>
            <a:r>
              <a:rPr dirty="0"/>
              <a:t>:</a:t>
            </a:r>
          </a:p>
          <a:p>
            <a:pPr lvl="1">
              <a:lnSpc>
                <a:spcPct val="150000"/>
              </a:lnSpc>
            </a:pP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representa</a:t>
            </a:r>
            <a:r>
              <a:rPr dirty="0"/>
              <a:t> </a:t>
            </a:r>
            <a:r>
              <a:rPr dirty="0" err="1"/>
              <a:t>Objetos</a:t>
            </a:r>
            <a:r>
              <a:rPr dirty="0"/>
              <a:t> </a:t>
            </a:r>
            <a:r>
              <a:rPr dirty="0" err="1"/>
              <a:t>individuais</a:t>
            </a:r>
            <a:r>
              <a:rPr dirty="0"/>
              <a:t>.</a:t>
            </a:r>
          </a:p>
          <a:p>
            <a:pPr lvl="1">
              <a:lnSpc>
                <a:spcPct val="150000"/>
              </a:lnSpc>
            </a:pP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representa</a:t>
            </a:r>
            <a:r>
              <a:rPr dirty="0"/>
              <a:t> </a:t>
            </a:r>
            <a:r>
              <a:rPr dirty="0" err="1"/>
              <a:t>Relações</a:t>
            </a:r>
            <a:r>
              <a:rPr dirty="0"/>
              <a:t> (quem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onde</a:t>
            </a:r>
            <a:r>
              <a:rPr dirty="0"/>
              <a:t>).</a:t>
            </a:r>
          </a:p>
          <a:p>
            <a:pPr lvl="1">
              <a:lnSpc>
                <a:spcPct val="150000"/>
              </a:lnSpc>
            </a:pP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Quantificação</a:t>
            </a:r>
            <a:r>
              <a:rPr dirty="0"/>
              <a:t>.</a:t>
            </a:r>
          </a:p>
          <a:p>
            <a:pPr>
              <a:lnSpc>
                <a:spcPct val="150000"/>
              </a:lnSpc>
            </a:pPr>
            <a:endParaRPr lang="pt-BR" dirty="0"/>
          </a:p>
          <a:p>
            <a:pPr>
              <a:lnSpc>
                <a:spcPct val="150000"/>
              </a:lnSpc>
            </a:pPr>
            <a:r>
              <a:rPr b="1" dirty="0">
                <a:solidFill>
                  <a:schemeClr val="accent2"/>
                </a:solidFill>
              </a:rPr>
              <a:t>Como </a:t>
            </a:r>
            <a:r>
              <a:rPr b="1" dirty="0" err="1">
                <a:solidFill>
                  <a:schemeClr val="accent2"/>
                </a:solidFill>
              </a:rPr>
              <a:t>dizer</a:t>
            </a:r>
            <a:r>
              <a:rPr b="1" dirty="0">
                <a:solidFill>
                  <a:schemeClr val="accent2"/>
                </a:solidFill>
              </a:rPr>
              <a:t> 'Todo </a:t>
            </a:r>
            <a:r>
              <a:rPr b="1" dirty="0" err="1">
                <a:solidFill>
                  <a:schemeClr val="accent2"/>
                </a:solidFill>
              </a:rPr>
              <a:t>Aluno</a:t>
            </a:r>
            <a:r>
              <a:rPr b="1" dirty="0">
                <a:solidFill>
                  <a:schemeClr val="accent2"/>
                </a:solidFill>
              </a:rPr>
              <a:t> é </a:t>
            </a:r>
            <a:r>
              <a:rPr b="1" dirty="0" err="1">
                <a:solidFill>
                  <a:schemeClr val="accent2"/>
                </a:solidFill>
              </a:rPr>
              <a:t>Inteligente</a:t>
            </a:r>
            <a:r>
              <a:rPr b="1" dirty="0">
                <a:solidFill>
                  <a:schemeClr val="accent2"/>
                </a:solidFill>
              </a:rPr>
              <a:t>' </a:t>
            </a:r>
            <a:r>
              <a:rPr b="1" dirty="0" err="1">
                <a:solidFill>
                  <a:schemeClr val="accent2"/>
                </a:solidFill>
              </a:rPr>
              <a:t>sem</a:t>
            </a:r>
            <a:r>
              <a:rPr b="1" dirty="0">
                <a:solidFill>
                  <a:schemeClr val="accent2"/>
                </a:solidFill>
              </a:rPr>
              <a:t> </a:t>
            </a:r>
            <a:r>
              <a:rPr b="1" dirty="0" err="1">
                <a:solidFill>
                  <a:schemeClr val="accent2"/>
                </a:solidFill>
              </a:rPr>
              <a:t>criar</a:t>
            </a:r>
            <a:r>
              <a:rPr b="1" dirty="0">
                <a:solidFill>
                  <a:schemeClr val="accent2"/>
                </a:solidFill>
              </a:rPr>
              <a:t> 50 </a:t>
            </a:r>
            <a:r>
              <a:rPr b="1" dirty="0" err="1">
                <a:solidFill>
                  <a:schemeClr val="accent2"/>
                </a:solidFill>
              </a:rPr>
              <a:t>variáveis</a:t>
            </a:r>
            <a:r>
              <a:rPr b="1" dirty="0">
                <a:solidFill>
                  <a:schemeClr val="accent2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112A2-749D-10B6-E86C-913682775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4FC1A-428C-9FF0-5636-F28422148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2"/>
                </a:solidFill>
              </a:rPr>
              <a:t>Lógica</a:t>
            </a:r>
            <a:r>
              <a:rPr dirty="0">
                <a:solidFill>
                  <a:schemeClr val="accent2"/>
                </a:solidFill>
              </a:rPr>
              <a:t> de </a:t>
            </a:r>
            <a:r>
              <a:rPr dirty="0" err="1">
                <a:solidFill>
                  <a:schemeClr val="accent2"/>
                </a:solidFill>
              </a:rPr>
              <a:t>Predicados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F27809-4521-BCE0-D052-FB3C864F8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2700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Lógica</a:t>
            </a:r>
            <a:r>
              <a:rPr dirty="0"/>
              <a:t> de </a:t>
            </a:r>
            <a:r>
              <a:rPr dirty="0" err="1"/>
              <a:t>Predicados</a:t>
            </a:r>
            <a:r>
              <a:rPr dirty="0"/>
              <a:t> (1ª </a:t>
            </a:r>
            <a:r>
              <a:rPr dirty="0" err="1"/>
              <a:t>Ordem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lnSpc>
                <a:spcPct val="150000"/>
              </a:lnSpc>
            </a:pPr>
            <a:r>
              <a:rPr dirty="0" err="1"/>
              <a:t>Estrutura</a:t>
            </a:r>
            <a:r>
              <a:rPr dirty="0"/>
              <a:t> Interna:</a:t>
            </a:r>
          </a:p>
          <a:p>
            <a:pPr lvl="1">
              <a:lnSpc>
                <a:spcPct val="150000"/>
              </a:lnSpc>
            </a:pPr>
            <a:r>
              <a:rPr dirty="0" err="1"/>
              <a:t>Objetos</a:t>
            </a:r>
            <a:r>
              <a:rPr dirty="0"/>
              <a:t>: </a:t>
            </a:r>
            <a:r>
              <a:rPr dirty="0" err="1"/>
              <a:t>Constantes</a:t>
            </a:r>
            <a:r>
              <a:rPr dirty="0"/>
              <a:t> (João, </a:t>
            </a:r>
            <a:r>
              <a:rPr dirty="0" err="1"/>
              <a:t>BlocoA</a:t>
            </a:r>
            <a:r>
              <a:rPr dirty="0"/>
              <a:t>) e </a:t>
            </a:r>
            <a:r>
              <a:rPr dirty="0" err="1"/>
              <a:t>Variáveis</a:t>
            </a:r>
            <a:r>
              <a:rPr dirty="0"/>
              <a:t> (x, y).</a:t>
            </a:r>
          </a:p>
          <a:p>
            <a:pPr lvl="1">
              <a:lnSpc>
                <a:spcPct val="150000"/>
              </a:lnSpc>
            </a:pPr>
            <a:r>
              <a:rPr dirty="0" err="1"/>
              <a:t>Predicados</a:t>
            </a:r>
            <a:r>
              <a:rPr dirty="0"/>
              <a:t>: </a:t>
            </a:r>
            <a:r>
              <a:rPr dirty="0" err="1"/>
              <a:t>Propriedades</a:t>
            </a:r>
            <a:r>
              <a:rPr dirty="0"/>
              <a:t> (Mortal(x)) e </a:t>
            </a:r>
            <a:r>
              <a:rPr dirty="0" err="1"/>
              <a:t>Relações</a:t>
            </a:r>
            <a:r>
              <a:rPr dirty="0"/>
              <a:t> (</a:t>
            </a:r>
            <a:r>
              <a:rPr dirty="0" err="1"/>
              <a:t>Sobre</a:t>
            </a:r>
            <a:r>
              <a:rPr dirty="0"/>
              <a:t>(A, B)).</a:t>
            </a:r>
          </a:p>
          <a:p>
            <a:pPr>
              <a:lnSpc>
                <a:spcPct val="150000"/>
              </a:lnSpc>
            </a:pPr>
            <a:r>
              <a:rPr dirty="0" err="1"/>
              <a:t>Quantificadores</a:t>
            </a:r>
            <a:r>
              <a:rPr dirty="0"/>
              <a:t>:</a:t>
            </a:r>
          </a:p>
          <a:p>
            <a:pPr lvl="1">
              <a:lnSpc>
                <a:spcPct val="150000"/>
              </a:lnSpc>
            </a:pPr>
            <a:r>
              <a:rPr dirty="0"/>
              <a:t>∀ (Universal): 'Para </a:t>
            </a:r>
            <a:r>
              <a:rPr dirty="0" err="1"/>
              <a:t>todos</a:t>
            </a:r>
            <a:r>
              <a:rPr dirty="0"/>
              <a:t>...'</a:t>
            </a:r>
          </a:p>
          <a:p>
            <a:pPr lvl="1">
              <a:lnSpc>
                <a:spcPct val="150000"/>
              </a:lnSpc>
            </a:pPr>
            <a:r>
              <a:rPr dirty="0"/>
              <a:t>∃ (</a:t>
            </a:r>
            <a:r>
              <a:rPr dirty="0" err="1"/>
              <a:t>Existencial</a:t>
            </a:r>
            <a:r>
              <a:rPr dirty="0"/>
              <a:t>): '</a:t>
            </a:r>
            <a:r>
              <a:rPr dirty="0" err="1"/>
              <a:t>Existe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menos</a:t>
            </a:r>
            <a:r>
              <a:rPr dirty="0"/>
              <a:t> um...'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Aplicações de Predicados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lnSpc>
                <a:spcPct val="150000"/>
              </a:lnSpc>
            </a:pPr>
            <a:r>
              <a:rPr dirty="0" err="1"/>
              <a:t>Exemplo</a:t>
            </a:r>
            <a:r>
              <a:rPr dirty="0"/>
              <a:t> </a:t>
            </a:r>
            <a:r>
              <a:rPr lang="pt-BR" dirty="0"/>
              <a:t>"</a:t>
            </a:r>
            <a:r>
              <a:rPr dirty="0" err="1"/>
              <a:t>Armazém</a:t>
            </a:r>
            <a:r>
              <a:rPr lang="pt-BR" dirty="0"/>
              <a:t>"</a:t>
            </a:r>
            <a:r>
              <a:rPr dirty="0"/>
              <a:t> </a:t>
            </a:r>
            <a:r>
              <a:rPr dirty="0" err="1"/>
              <a:t>Inteligente</a:t>
            </a:r>
            <a:r>
              <a:rPr dirty="0"/>
              <a:t>:</a:t>
            </a:r>
          </a:p>
          <a:p>
            <a:pPr lvl="1">
              <a:lnSpc>
                <a:spcPct val="150000"/>
              </a:lnSpc>
            </a:pPr>
            <a:r>
              <a:rPr dirty="0" err="1"/>
              <a:t>Regra</a:t>
            </a:r>
            <a:r>
              <a:rPr dirty="0"/>
              <a:t>: ∀x ∀y (Pesado(x) ∧ </a:t>
            </a:r>
            <a:r>
              <a:rPr dirty="0" err="1"/>
              <a:t>Em_Cima</a:t>
            </a:r>
            <a:r>
              <a:rPr dirty="0"/>
              <a:t>(x, y) → </a:t>
            </a:r>
            <a:r>
              <a:rPr dirty="0" err="1"/>
              <a:t>Fragil</a:t>
            </a:r>
            <a:r>
              <a:rPr dirty="0"/>
              <a:t>(y))</a:t>
            </a:r>
          </a:p>
          <a:p>
            <a:pPr lvl="1">
              <a:lnSpc>
                <a:spcPct val="150000"/>
              </a:lnSpc>
            </a:pPr>
            <a:r>
              <a:rPr dirty="0"/>
              <a:t>Fato: Pesado(Motor) ∧ </a:t>
            </a:r>
            <a:r>
              <a:rPr dirty="0" err="1"/>
              <a:t>Em_Cima</a:t>
            </a:r>
            <a:r>
              <a:rPr dirty="0"/>
              <a:t>(Motor, Caixa01)</a:t>
            </a:r>
          </a:p>
          <a:p>
            <a:pPr lvl="1">
              <a:lnSpc>
                <a:spcPct val="150000"/>
              </a:lnSpc>
            </a:pPr>
            <a:r>
              <a:rPr dirty="0" err="1"/>
              <a:t>Dedução</a:t>
            </a:r>
            <a:r>
              <a:rPr dirty="0"/>
              <a:t>: </a:t>
            </a:r>
            <a:r>
              <a:rPr dirty="0" err="1"/>
              <a:t>Fragil</a:t>
            </a:r>
            <a:r>
              <a:rPr dirty="0"/>
              <a:t>(Caixa01)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45571-7D72-6866-C363-26826E667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65EBE-77EC-987D-EF80-611F1F08A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Generalizando o Conhecimento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B4A307F-A112-722E-C175-61DCF41D40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23554" y="1920605"/>
            <a:ext cx="5023042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Quantificador Universal: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"Para todos...“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1800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Quantificador Existencial: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"Existe ao menos um..."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205611-DB42-42A6-99C9-09BCB3A08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182" y="2582611"/>
            <a:ext cx="2581635" cy="3429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242BF1-9BF1-0F5A-5033-66E9EA6EF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182" y="3830289"/>
            <a:ext cx="2219635" cy="352474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B9F75598-D6FD-5ABA-D879-B87174719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554" y="4504257"/>
            <a:ext cx="6567203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 representar o mundo de forma compacta.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 para Bases de Conhecimento (KB)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 que a IA deduza fatos sobre objetos que ela nunca viu antes, baseada em regras gerais.</a:t>
            </a:r>
          </a:p>
        </p:txBody>
      </p:sp>
    </p:spTree>
    <p:extLst>
      <p:ext uri="{BB962C8B-B14F-4D97-AF65-F5344CB8AC3E}">
        <p14:creationId xmlns:p14="http://schemas.microsoft.com/office/powerpoint/2010/main" val="507766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/>
                </a:solidFill>
              </a:rPr>
              <a:t>Bônus: Sistemas </a:t>
            </a:r>
            <a:r>
              <a:rPr dirty="0" err="1">
                <a:solidFill>
                  <a:schemeClr val="accent2"/>
                </a:solidFill>
              </a:rPr>
              <a:t>Especialistas</a:t>
            </a:r>
            <a:r>
              <a:rPr dirty="0">
                <a:solidFill>
                  <a:schemeClr val="accent2"/>
                </a:solidFill>
              </a:rPr>
              <a:t> (SE)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130723"/>
            <a:ext cx="7290055" cy="4023360"/>
          </a:xfrm>
        </p:spPr>
        <p:txBody>
          <a:bodyPr wrap="square"/>
          <a:lstStyle/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Buscam e</a:t>
            </a:r>
            <a:r>
              <a:rPr dirty="0" err="1"/>
              <a:t>mula</a:t>
            </a:r>
            <a:r>
              <a:rPr lang="pt-BR" dirty="0"/>
              <a:t>r </a:t>
            </a:r>
            <a:r>
              <a:rPr dirty="0" err="1"/>
              <a:t>especialistas</a:t>
            </a:r>
            <a:r>
              <a:rPr dirty="0"/>
              <a:t> </a:t>
            </a:r>
            <a:r>
              <a:rPr dirty="0" err="1"/>
              <a:t>humanos</a:t>
            </a:r>
            <a:r>
              <a:rPr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 err="1"/>
              <a:t>Arquitetura</a:t>
            </a:r>
            <a:r>
              <a:rPr dirty="0"/>
              <a:t>:</a:t>
            </a:r>
          </a:p>
          <a:p>
            <a:pPr lvl="1"/>
            <a:r>
              <a:rPr dirty="0"/>
              <a:t>Base de </a:t>
            </a:r>
            <a:r>
              <a:rPr dirty="0" err="1"/>
              <a:t>Conhecimento</a:t>
            </a:r>
            <a:r>
              <a:rPr dirty="0"/>
              <a:t> (</a:t>
            </a:r>
            <a:r>
              <a:rPr dirty="0" err="1"/>
              <a:t>Regras</a:t>
            </a:r>
            <a:r>
              <a:rPr dirty="0"/>
              <a:t> SE-ENTÃO).</a:t>
            </a:r>
          </a:p>
          <a:p>
            <a:pPr lvl="1"/>
            <a:r>
              <a:rPr dirty="0"/>
              <a:t>Motor de </a:t>
            </a:r>
            <a:r>
              <a:rPr dirty="0" err="1"/>
              <a:t>Inferência</a:t>
            </a:r>
            <a:r>
              <a:rPr dirty="0"/>
              <a:t> (</a:t>
            </a:r>
            <a:r>
              <a:rPr dirty="0" err="1"/>
              <a:t>Aplica</a:t>
            </a:r>
            <a:r>
              <a:rPr dirty="0"/>
              <a:t> a </a:t>
            </a:r>
            <a:r>
              <a:rPr dirty="0" err="1"/>
              <a:t>lógica</a:t>
            </a:r>
            <a:r>
              <a:rPr dirty="0"/>
              <a:t>).</a:t>
            </a:r>
            <a:endParaRPr lang="pt-BR" dirty="0"/>
          </a:p>
          <a:p>
            <a:r>
              <a:rPr dirty="0" err="1"/>
              <a:t>Encadeamento</a:t>
            </a:r>
            <a:r>
              <a:rPr dirty="0"/>
              <a:t> para </a:t>
            </a:r>
            <a:r>
              <a:rPr dirty="0" err="1"/>
              <a:t>Frente</a:t>
            </a:r>
            <a:r>
              <a:rPr dirty="0"/>
              <a:t> vs. Para </a:t>
            </a:r>
            <a:r>
              <a:rPr dirty="0" err="1"/>
              <a:t>Trás</a:t>
            </a:r>
            <a:r>
              <a:rPr dirty="0"/>
              <a:t>.</a:t>
            </a:r>
          </a:p>
          <a:p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dirty="0" err="1"/>
              <a:t>Exemplos</a:t>
            </a:r>
            <a:r>
              <a:rPr dirty="0"/>
              <a:t>: MYCIN (Medicina) e PROSPECTOR (</a:t>
            </a:r>
            <a:r>
              <a:rPr dirty="0" err="1"/>
              <a:t>Mineração</a:t>
            </a:r>
            <a:r>
              <a:rPr dirty="0"/>
              <a:t>).</a:t>
            </a:r>
            <a:endParaRPr lang="pt-BR" dirty="0"/>
          </a:p>
          <a:p>
            <a:endParaRPr lang="pt-BR" dirty="0"/>
          </a:p>
          <a:p>
            <a:r>
              <a:rPr lang="pt-BR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https://colab.research.google.com/github/Rogerio-mack/work/blob/main/Rule_Based_Programming.ipynb</a:t>
            </a:r>
            <a:r>
              <a:rPr lang="pt-BR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2"/>
                </a:solidFill>
              </a:rPr>
              <a:t>Planejamento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E99B48-D63A-BB80-6CC2-880929AED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65578-9E90-5FF0-8053-A64139D30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F1FC5-6D76-8D3A-273B-1A6E0DD24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Planejamento em IA?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7F565F-F3DA-6F0B-6777-E94DA4D1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dirty="0"/>
              <a:t>Planejar é basicamente escolher "o que fazer" antes de "fazer".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dirty="0"/>
              <a:t>Um algoritmo de </a:t>
            </a:r>
            <a:r>
              <a:rPr lang="pt-BR" dirty="0">
                <a:solidFill>
                  <a:schemeClr val="accent2"/>
                </a:solidFill>
              </a:rPr>
              <a:t>busca simples </a:t>
            </a:r>
            <a:r>
              <a:rPr lang="pt-BR" dirty="0"/>
              <a:t>(pense no </a:t>
            </a:r>
            <a:r>
              <a:rPr lang="pt-BR" dirty="0" err="1"/>
              <a:t>Waze</a:t>
            </a:r>
            <a:r>
              <a:rPr lang="pt-BR" dirty="0"/>
              <a:t>) </a:t>
            </a:r>
            <a:r>
              <a:rPr lang="pt-BR" dirty="0">
                <a:solidFill>
                  <a:schemeClr val="accent2"/>
                </a:solidFill>
              </a:rPr>
              <a:t>encontra um caminho </a:t>
            </a:r>
            <a:r>
              <a:rPr lang="pt-BR" dirty="0"/>
              <a:t>entre dois pontos, o </a:t>
            </a:r>
            <a:r>
              <a:rPr lang="pt-BR" b="1" dirty="0"/>
              <a:t>Planejamento Automatizado</a:t>
            </a:r>
            <a:r>
              <a:rPr lang="pt-BR" dirty="0"/>
              <a:t> é uma </a:t>
            </a:r>
            <a:r>
              <a:rPr lang="pt-BR" dirty="0">
                <a:solidFill>
                  <a:schemeClr val="accent2"/>
                </a:solidFill>
              </a:rPr>
              <a:t>busca que encontra uma sequência de ações lógicas </a:t>
            </a:r>
            <a:r>
              <a:rPr lang="pt-BR" dirty="0"/>
              <a:t>para transformar o estado do mundo.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/>
              <a:t>O desafio é que o número de combinações de ações possíveis cresce exponencialmente.</a:t>
            </a:r>
          </a:p>
        </p:txBody>
      </p:sp>
    </p:spTree>
    <p:extLst>
      <p:ext uri="{BB962C8B-B14F-4D97-AF65-F5344CB8AC3E}">
        <p14:creationId xmlns:p14="http://schemas.microsoft.com/office/powerpoint/2010/main" val="1851577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10CCA-D91F-5460-E08C-1C615D7DC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2079D-6CF7-7181-C7E6-AA0D77C7B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Planejamento automatizado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B4B5BA9-60F4-2782-F207-B3A4A363E0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096" y="1877083"/>
            <a:ext cx="7426998" cy="4156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 Problema de Planejamento: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Dado um estado inicial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Google Sans Text"/>
              </a:rPr>
              <a:t>S_0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um conjunto de ações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Google Sans Text"/>
              </a:rPr>
              <a:t>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 um objetivo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Google Sans Text"/>
              </a:rPr>
              <a:t>G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encontrar uma sequência de ações que leve a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Google Sans Text"/>
              </a:rPr>
              <a:t>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Google Sans Text"/>
              </a:rPr>
              <a:t>S_0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Google Sans Text"/>
                <a:sym typeface="Wingdings" panose="05000000000000000000" pitchFamily="2" charset="2"/>
              </a:rPr>
              <a:t> G.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1800" b="1" dirty="0">
                <a:latin typeface="Google Sans Text"/>
              </a:rPr>
              <a:t>Em uma c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omum: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 estado é uma "caixa preta" (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coordenada X, Y).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No planejamento: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 estado é "transparente" (composto por fatos lógicos que a IA entende e manipula).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Ciclo do Agente IA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Google Sans Text"/>
              </a:rPr>
              <a:t>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Google Sans Text"/>
              </a:rPr>
              <a:t> Perceber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Google Sans Text"/>
                <a:sym typeface="Wingdings" panose="05000000000000000000" pitchFamily="2" charset="2"/>
              </a:rPr>
              <a:t>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Google Sans Text"/>
              </a:rPr>
              <a:t>Planejar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Google Sans Text"/>
                <a:sym typeface="Wingdings" panose="05000000000000000000" pitchFamily="2" charset="2"/>
              </a:rPr>
              <a:t>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Google Sans Text"/>
              </a:rPr>
              <a:t> Atuar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Google Sans Text"/>
                <a:sym typeface="Wingdings" panose="05000000000000000000" pitchFamily="2" charset="2"/>
              </a:rPr>
              <a:t>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Google Sans Text"/>
              </a:rPr>
              <a:t>Corrigir.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780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C2F61-158D-BACC-73B7-75C52F29E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EBEF3-9875-F3B5-362A-EF324051C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Planejamento Abordagens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921C781-0B5A-6F57-5289-601C5BB88E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6596" y="1839281"/>
            <a:ext cx="7953555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Planejamento Clássico (STRIPS/PDDL):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Ambiente determinístico, estático e totalmente observável. Foca em eficiência simbólica.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HTN (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Hierarchical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Task Networks):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Decomposição de tarefas em subtarefas simples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Planejamento sob Incerteza (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MDPs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Quando as ações podem falhar, probabilístico.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Planejamento Temporal: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Duração das ações e o paralelismo importam (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ex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: logística de satélites).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Busca em Espaço de Estados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vs. Espaço de Planos: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Decidir se vamos construir o plano do início para o fim ou "encaixar" peças de ações como um quebra-cabeça.</a:t>
            </a:r>
          </a:p>
        </p:txBody>
      </p:sp>
    </p:spTree>
    <p:extLst>
      <p:ext uri="{BB962C8B-B14F-4D97-AF65-F5344CB8AC3E}">
        <p14:creationId xmlns:p14="http://schemas.microsoft.com/office/powerpoint/2010/main" val="2837488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A87A-5C91-C63B-3937-03D83A0AC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ECCB9-A2C7-AD01-429D-7AA59821E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Planejamento: O Modelo STRIPS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0D5C6-68D9-4FD6-BCFF-51FD61DEB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044458"/>
            <a:ext cx="7290055" cy="4023360"/>
          </a:xfrm>
        </p:spPr>
        <p:txBody>
          <a:bodyPr wrap="square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pt-BR" dirty="0"/>
              <a:t>Ele assume que </a:t>
            </a:r>
            <a:r>
              <a:rPr lang="pt-BR" b="1" dirty="0"/>
              <a:t>tudo o que não é explicitamente alterado por uma ação permanece igual</a:t>
            </a:r>
            <a:r>
              <a:rPr lang="pt-BR" dirty="0"/>
              <a:t>. Ele define o mundo através de:</a:t>
            </a:r>
          </a:p>
          <a:p>
            <a:pPr>
              <a:lnSpc>
                <a:spcPct val="150000"/>
              </a:lnSpc>
            </a:pPr>
            <a:r>
              <a:rPr lang="pt-BR" b="1" dirty="0"/>
              <a:t>Estado:</a:t>
            </a:r>
            <a:r>
              <a:rPr lang="pt-BR" dirty="0"/>
              <a:t> Um conjunto de literais (fatos verdadeiros no momento).</a:t>
            </a:r>
          </a:p>
          <a:p>
            <a:pPr>
              <a:lnSpc>
                <a:spcPct val="150000"/>
              </a:lnSpc>
            </a:pPr>
            <a:r>
              <a:rPr lang="pt-BR" b="1" dirty="0"/>
              <a:t>Objetivo:</a:t>
            </a:r>
            <a:r>
              <a:rPr lang="pt-BR" dirty="0"/>
              <a:t> Onde queremos chegar.</a:t>
            </a:r>
          </a:p>
          <a:p>
            <a:pPr>
              <a:lnSpc>
                <a:spcPct val="150000"/>
              </a:lnSpc>
            </a:pPr>
            <a:r>
              <a:rPr lang="pt-BR" b="1" dirty="0"/>
              <a:t>Ações (Operadores):</a:t>
            </a:r>
            <a:r>
              <a:rPr lang="pt-BR" dirty="0"/>
              <a:t> O coração do sistema. Cada ação possui:</a:t>
            </a:r>
          </a:p>
          <a:p>
            <a:pPr lvl="1">
              <a:lnSpc>
                <a:spcPct val="150000"/>
              </a:lnSpc>
            </a:pPr>
            <a:r>
              <a:rPr lang="pt-BR" b="1" dirty="0"/>
              <a:t>Pré-condições:</a:t>
            </a:r>
            <a:r>
              <a:rPr lang="pt-BR" dirty="0"/>
              <a:t> O que deve ser verdade para a ação ocorrer.</a:t>
            </a:r>
          </a:p>
          <a:p>
            <a:pPr lvl="1">
              <a:lnSpc>
                <a:spcPct val="150000"/>
              </a:lnSpc>
            </a:pPr>
            <a:r>
              <a:rPr lang="pt-BR" b="1" dirty="0"/>
              <a:t>Efeito (</a:t>
            </a:r>
            <a:r>
              <a:rPr lang="pt-BR" b="1" dirty="0" err="1"/>
              <a:t>Add</a:t>
            </a:r>
            <a:r>
              <a:rPr lang="pt-BR" b="1" dirty="0"/>
              <a:t> </a:t>
            </a:r>
            <a:r>
              <a:rPr lang="pt-BR" b="1" dirty="0" err="1"/>
              <a:t>List</a:t>
            </a:r>
            <a:r>
              <a:rPr lang="pt-BR" b="1" dirty="0"/>
              <a:t>):</a:t>
            </a:r>
            <a:r>
              <a:rPr lang="pt-BR" dirty="0"/>
              <a:t> O que passa a ser verdade após a ação.</a:t>
            </a:r>
          </a:p>
          <a:p>
            <a:pPr lvl="1">
              <a:lnSpc>
                <a:spcPct val="150000"/>
              </a:lnSpc>
            </a:pPr>
            <a:r>
              <a:rPr lang="pt-BR" b="1" dirty="0"/>
              <a:t>Efeito (Delete </a:t>
            </a:r>
            <a:r>
              <a:rPr lang="pt-BR" b="1" dirty="0" err="1"/>
              <a:t>List</a:t>
            </a:r>
            <a:r>
              <a:rPr lang="pt-BR" b="1" dirty="0"/>
              <a:t>):</a:t>
            </a:r>
            <a:r>
              <a:rPr lang="pt-BR" dirty="0"/>
              <a:t> O que deixa de ser verdade.</a:t>
            </a:r>
          </a:p>
        </p:txBody>
      </p:sp>
    </p:spTree>
    <p:extLst>
      <p:ext uri="{BB962C8B-B14F-4D97-AF65-F5344CB8AC3E}">
        <p14:creationId xmlns:p14="http://schemas.microsoft.com/office/powerpoint/2010/main" val="2739239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94226-E0CE-F6C8-7A80-2CA29EBD3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9E7B2-0100-5507-BB7B-CAA89B64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STRIPS</a:t>
            </a:r>
            <a:r>
              <a:rPr lang="pt-BR" dirty="0"/>
              <a:t>: EXEMPLO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578C2-2C1D-EE3D-C2CB-49DBF9312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044458"/>
            <a:ext cx="7290055" cy="4023360"/>
          </a:xfr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pt-BR" dirty="0"/>
              <a:t>Imagine que queremos colocar o Bloco A sobre o Bloco B.</a:t>
            </a:r>
          </a:p>
          <a:p>
            <a:pPr>
              <a:lnSpc>
                <a:spcPct val="150000"/>
              </a:lnSpc>
            </a:pPr>
            <a:endParaRPr lang="pt-B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950425-0853-7F8B-6BAB-C3A799C8B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102" y="2846009"/>
            <a:ext cx="6750041" cy="283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574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40DE5-03CF-1854-DB04-E414B31B2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4CE9C-8AB4-7F8A-7133-F6D3E4A0C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STRIPS</a:t>
            </a:r>
            <a:r>
              <a:rPr lang="pt-BR" dirty="0"/>
              <a:t>: Empilhar(</a:t>
            </a:r>
            <a:r>
              <a:rPr lang="pt-BR" dirty="0" err="1"/>
              <a:t>a,B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88DE6-78BA-8F4A-31C1-361E9F9BD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044458"/>
            <a:ext cx="7290055" cy="4023360"/>
          </a:xfr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pt-BR" dirty="0"/>
              <a:t>Imagine um braço robótico trabalhando em uma mesa com vários cubos de madeira (Bloco A, Bloco B, Bloco C).</a:t>
            </a:r>
          </a:p>
          <a:p>
            <a:endParaRPr lang="pt-BR" b="1" dirty="0"/>
          </a:p>
          <a:p>
            <a:r>
              <a:rPr lang="pt-BR" b="1" dirty="0"/>
              <a:t>1. O Estado Inicial (Antes da ação):</a:t>
            </a:r>
            <a:r>
              <a:rPr lang="pt-BR" dirty="0"/>
              <a:t> Imagine que o Bloco A e o Bloco B estão lado a lado, repousando sobre a mesa. Nenhum tem nada em cima.</a:t>
            </a:r>
          </a:p>
          <a:p>
            <a:r>
              <a:rPr lang="pt-BR" dirty="0"/>
              <a:t>O robô lê o estado do mundo como: Sobre(A, Mesa) ∧ Sobre(B, Mesa) ∧ Limpo(A) ∧ Limpo(B)</a:t>
            </a:r>
          </a:p>
          <a:p>
            <a:pPr>
              <a:lnSpc>
                <a:spcPct val="15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90583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D557-B80C-FFCC-F15C-08717B945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49BAA-A421-1A4C-777A-0B38B7CF4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STRIPS</a:t>
            </a:r>
            <a:r>
              <a:rPr lang="pt-BR" dirty="0"/>
              <a:t>: Empilhar(</a:t>
            </a:r>
            <a:r>
              <a:rPr lang="pt-BR" dirty="0" err="1"/>
              <a:t>a,B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10B73-16F6-9BAE-D267-6F6A67586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044458"/>
            <a:ext cx="7290055" cy="4023360"/>
          </a:xfrm>
        </p:spPr>
        <p:txBody>
          <a:bodyPr wrap="square">
            <a:normAutofit fontScale="92500" lnSpcReduction="20000"/>
          </a:bodyPr>
          <a:lstStyle/>
          <a:p>
            <a:r>
              <a:rPr lang="pt-BR" b="1" dirty="0"/>
              <a:t>2. A Verificação (Pré-condições):</a:t>
            </a:r>
            <a:r>
              <a:rPr lang="pt-BR" dirty="0"/>
              <a:t> O robô recebe a ordem: </a:t>
            </a:r>
            <a:r>
              <a:rPr lang="pt-BR" i="1" dirty="0"/>
              <a:t>"Coloque A em cima de B"</a:t>
            </a:r>
            <a:r>
              <a:rPr lang="pt-BR" dirty="0"/>
              <a:t>. Antes de agir, ele checa suas pré-condições para Empilhar(A, B):</a:t>
            </a:r>
          </a:p>
          <a:p>
            <a:r>
              <a:rPr lang="pt-BR" dirty="0"/>
              <a:t>Sim (Sobre(A, Mesa)), Sim (Limpo(A)), Sim (Limpo(B)).</a:t>
            </a:r>
          </a:p>
          <a:p>
            <a:r>
              <a:rPr lang="pt-BR" i="1" dirty="0"/>
              <a:t>...</a:t>
            </a:r>
            <a:r>
              <a:rPr lang="pt-BR" i="1" dirty="0">
                <a:solidFill>
                  <a:schemeClr val="accent2"/>
                </a:solidFill>
              </a:rPr>
              <a:t>O robô executa a ação física.</a:t>
            </a:r>
            <a:endParaRPr lang="pt-BR" dirty="0">
              <a:solidFill>
                <a:schemeClr val="accent2"/>
              </a:solidFill>
            </a:endParaRPr>
          </a:p>
          <a:p>
            <a:r>
              <a:rPr lang="pt-BR" b="1" dirty="0"/>
              <a:t>3. A Atualização do Mundo (Efeitos):</a:t>
            </a:r>
            <a:r>
              <a:rPr lang="pt-BR" dirty="0"/>
              <a:t> Agora que o Bloco A está fisicamente em cima do Bloco B, o STRIPS precisa atualizar o "banco de dados" do estado do mundo. É aqui que entram as listas </a:t>
            </a:r>
            <a:r>
              <a:rPr lang="pt-BR" dirty="0" err="1"/>
              <a:t>Add</a:t>
            </a:r>
            <a:r>
              <a:rPr lang="pt-BR" dirty="0"/>
              <a:t> e Delete.</a:t>
            </a:r>
          </a:p>
          <a:p>
            <a:r>
              <a:rPr lang="pt-BR" b="1" dirty="0"/>
              <a:t>O que deixou de ser verdade? (Delete </a:t>
            </a:r>
            <a:r>
              <a:rPr lang="pt-BR" b="1" dirty="0" err="1"/>
              <a:t>List</a:t>
            </a:r>
            <a:r>
              <a:rPr lang="pt-BR" b="1" dirty="0"/>
              <a:t>):</a:t>
            </a:r>
            <a:endParaRPr lang="pt-BR" dirty="0"/>
          </a:p>
          <a:p>
            <a:pPr lvl="1"/>
            <a:r>
              <a:rPr lang="pt-BR" dirty="0"/>
              <a:t>O Bloco A não está mais na mesa. -&gt; </a:t>
            </a:r>
            <a:r>
              <a:rPr lang="pt-BR" i="1" dirty="0"/>
              <a:t>Apaga Sobre(A, Mesa)</a:t>
            </a:r>
            <a:endParaRPr lang="pt-BR" dirty="0"/>
          </a:p>
          <a:p>
            <a:pPr lvl="1"/>
            <a:r>
              <a:rPr lang="pt-BR" dirty="0"/>
              <a:t>O topo do Bloco B não está mais livre (pois A está em cima dele). -&gt; </a:t>
            </a:r>
            <a:r>
              <a:rPr lang="pt-BR" i="1" dirty="0"/>
              <a:t>Apaga Limpo(B)</a:t>
            </a:r>
            <a:endParaRPr lang="pt-BR" dirty="0"/>
          </a:p>
          <a:p>
            <a:r>
              <a:rPr lang="pt-BR" b="1" dirty="0"/>
              <a:t>O que passou a ser verdade? (</a:t>
            </a:r>
            <a:r>
              <a:rPr lang="pt-BR" b="1" dirty="0" err="1"/>
              <a:t>Add</a:t>
            </a:r>
            <a:r>
              <a:rPr lang="pt-BR" b="1" dirty="0"/>
              <a:t> </a:t>
            </a:r>
            <a:r>
              <a:rPr lang="pt-BR" b="1" dirty="0" err="1"/>
              <a:t>List</a:t>
            </a:r>
            <a:r>
              <a:rPr lang="pt-BR" b="1" dirty="0"/>
              <a:t>):</a:t>
            </a:r>
            <a:endParaRPr lang="pt-BR" dirty="0"/>
          </a:p>
          <a:p>
            <a:pPr lvl="1"/>
            <a:r>
              <a:rPr lang="pt-BR" dirty="0"/>
              <a:t>O Bloco A agora está sobre o Bloco B. -&gt; </a:t>
            </a:r>
            <a:r>
              <a:rPr lang="pt-BR" i="1" dirty="0"/>
              <a:t>Adiciona Sobre(A, B)</a:t>
            </a:r>
            <a:endParaRPr lang="pt-BR" dirty="0"/>
          </a:p>
          <a:p>
            <a:pPr>
              <a:lnSpc>
                <a:spcPct val="15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0154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EC32D-E0A0-941B-AA02-DE47A6A3A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0169A-5A3E-C1BA-3C7A-C593C2DF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Empilhar(</a:t>
            </a:r>
            <a:r>
              <a:rPr lang="pt-BR" dirty="0" err="1"/>
              <a:t>a,B</a:t>
            </a:r>
            <a:r>
              <a:rPr lang="pt-BR" dirty="0"/>
              <a:t>), O QUE A IA FAZ?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1062C-8D17-2624-EEF2-2169507B6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044458"/>
            <a:ext cx="7290055" cy="4023360"/>
          </a:xfr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pt-BR" dirty="0"/>
              <a:t>Ele olha para o Objetivo, olha para o Estado Inicial, e usa um algoritmo de busca (como uma Busca em Grafo, A*, etc.) para testar mentalmente as ações STRIPS.  A Busca: </a:t>
            </a:r>
            <a:r>
              <a:rPr lang="pt-BR" i="1" dirty="0"/>
              <a:t>"Se eu aplicar a Ação 1, chego no objetivo? Não. E se eu aplicar a Ação 2?"</a:t>
            </a:r>
            <a:r>
              <a:rPr lang="pt-BR" dirty="0"/>
              <a:t>.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accent2"/>
                </a:solidFill>
              </a:rPr>
              <a:t>Quando ele encontra uma sequência de ações que transforma o Estado Inicial no Objetivo, ele gera um </a:t>
            </a:r>
            <a:r>
              <a:rPr lang="pt-BR" b="1" dirty="0">
                <a:solidFill>
                  <a:schemeClr val="accent2"/>
                </a:solidFill>
              </a:rPr>
              <a:t>Plano</a:t>
            </a:r>
            <a:r>
              <a:rPr lang="pt-BR" dirty="0">
                <a:solidFill>
                  <a:schemeClr val="accent2"/>
                </a:solidFill>
              </a:rPr>
              <a:t>. </a:t>
            </a:r>
            <a:r>
              <a:rPr lang="pt-BR" dirty="0"/>
              <a:t>Apenas o plano final é enviado para os motores físicos do robô executarem.</a:t>
            </a:r>
          </a:p>
          <a:p>
            <a:pPr>
              <a:lnSpc>
                <a:spcPct val="15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9860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Planejamento como Busca em Espaço de Estados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b="1" dirty="0"/>
              <a:t>Analogia: </a:t>
            </a:r>
            <a:r>
              <a:rPr dirty="0"/>
              <a:t>A* é o Motor, STRIPS é o </a:t>
            </a:r>
            <a:r>
              <a:rPr dirty="0" err="1"/>
              <a:t>Combustível</a:t>
            </a:r>
            <a:r>
              <a:rPr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b="1" dirty="0"/>
              <a:t>N</a:t>
            </a:r>
            <a:r>
              <a:rPr lang="pt-BR" b="1" dirty="0" err="1"/>
              <a:t>ós</a:t>
            </a:r>
            <a:r>
              <a:rPr dirty="0"/>
              <a:t>: </a:t>
            </a:r>
            <a:r>
              <a:rPr dirty="0" err="1"/>
              <a:t>Estados</a:t>
            </a:r>
            <a:r>
              <a:rPr dirty="0"/>
              <a:t> </a:t>
            </a:r>
            <a:r>
              <a:rPr dirty="0" err="1"/>
              <a:t>lógicos</a:t>
            </a:r>
            <a:r>
              <a:rPr dirty="0"/>
              <a:t> (ex: Mundo dos </a:t>
            </a:r>
            <a:r>
              <a:rPr dirty="0" err="1"/>
              <a:t>Blocos</a:t>
            </a:r>
            <a:r>
              <a:rPr dirty="0"/>
              <a:t>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b="1" dirty="0" err="1"/>
              <a:t>Arestas</a:t>
            </a:r>
            <a:r>
              <a:rPr b="1" dirty="0"/>
              <a:t>: </a:t>
            </a:r>
            <a:r>
              <a:rPr dirty="0" err="1"/>
              <a:t>Ações</a:t>
            </a:r>
            <a:r>
              <a:rPr dirty="0"/>
              <a:t> </a:t>
            </a:r>
            <a:r>
              <a:rPr dirty="0" err="1"/>
              <a:t>válidas</a:t>
            </a:r>
            <a:r>
              <a:rPr dirty="0"/>
              <a:t> </a:t>
            </a:r>
            <a:r>
              <a:rPr dirty="0" err="1"/>
              <a:t>validadas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STRIPS.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b="1" dirty="0" err="1"/>
              <a:t>Heurística</a:t>
            </a:r>
            <a:r>
              <a:rPr b="1" dirty="0"/>
              <a:t> (h): </a:t>
            </a:r>
            <a:r>
              <a:rPr dirty="0" err="1"/>
              <a:t>Estimativa</a:t>
            </a:r>
            <a:r>
              <a:rPr dirty="0"/>
              <a:t> de </a:t>
            </a:r>
            <a:r>
              <a:rPr dirty="0" err="1"/>
              <a:t>distância</a:t>
            </a:r>
            <a:r>
              <a:rPr dirty="0"/>
              <a:t> </a:t>
            </a:r>
            <a:r>
              <a:rPr dirty="0" err="1"/>
              <a:t>até</a:t>
            </a:r>
            <a:r>
              <a:rPr dirty="0"/>
              <a:t> o </a:t>
            </a:r>
            <a:r>
              <a:rPr dirty="0" err="1"/>
              <a:t>objetivo</a:t>
            </a:r>
            <a:r>
              <a:rPr dirty="0"/>
              <a:t>.</a:t>
            </a:r>
            <a:endParaRPr lang="pt-BR" dirty="0"/>
          </a:p>
          <a:p>
            <a:endParaRPr lang="pt-BR" b="1" dirty="0"/>
          </a:p>
          <a:p>
            <a:r>
              <a:rPr lang="pt-BR" b="1" dirty="0"/>
              <a:t>Expansão de Nós: </a:t>
            </a:r>
            <a:r>
              <a:rPr lang="pt-BR" dirty="0"/>
              <a:t>Verificar quais ações STRIPS têm pré-condições satisfeitas. Aplicar a "</a:t>
            </a:r>
            <a:r>
              <a:rPr lang="pt-BR" dirty="0" err="1"/>
              <a:t>Add</a:t>
            </a:r>
            <a:r>
              <a:rPr lang="pt-BR" dirty="0"/>
              <a:t> </a:t>
            </a:r>
            <a:r>
              <a:rPr lang="pt-BR" dirty="0" err="1"/>
              <a:t>List</a:t>
            </a:r>
            <a:r>
              <a:rPr lang="pt-BR" dirty="0"/>
              <a:t>" e "Delete </a:t>
            </a:r>
            <a:r>
              <a:rPr lang="pt-BR" dirty="0" err="1"/>
              <a:t>List</a:t>
            </a:r>
            <a:r>
              <a:rPr lang="pt-BR" dirty="0"/>
              <a:t>" para gerar os nodos filhos.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DF4B3-B4F9-7FC8-C422-6337BDD04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56E29-5B91-FB45-6F6C-675124B31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</a:rPr>
              <a:t>Bônus, EXEMPLO: </a:t>
            </a:r>
            <a:r>
              <a:rPr lang="pt-BR" dirty="0" err="1">
                <a:solidFill>
                  <a:schemeClr val="accent2"/>
                </a:solidFill>
              </a:rPr>
              <a:t>Sokoban</a:t>
            </a:r>
            <a:endParaRPr dirty="0">
              <a:solidFill>
                <a:schemeClr val="accent2"/>
              </a:solidFill>
            </a:endParaRPr>
          </a:p>
        </p:txBody>
      </p:sp>
      <p:pic>
        <p:nvPicPr>
          <p:cNvPr id="9222" name="Picture 6" descr="4. Sokoban — Apprenez Python avec Reeborg">
            <a:extLst>
              <a:ext uri="{FF2B5EF4-FFF2-40B4-BE49-F238E27FC236}">
                <a16:creationId xmlns:a16="http://schemas.microsoft.com/office/drawing/2014/main" id="{C8FD9BC1-DBE0-A434-9E77-A1C55A0FE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588" y="2300288"/>
            <a:ext cx="2028825" cy="225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94272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B4822-78CB-4929-758B-77E639429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0C4F1-9617-CBB3-CFB2-23300F2A5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Sokoban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F1340A-CA62-D075-12A6-08374D4CB0D9}"/>
              </a:ext>
            </a:extLst>
          </p:cNvPr>
          <p:cNvSpPr txBox="1"/>
          <p:nvPr/>
        </p:nvSpPr>
        <p:spPr>
          <a:xfrm>
            <a:off x="3986784" y="878038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Configuração Inicial (S0):   </a:t>
            </a:r>
          </a:p>
          <a:p>
            <a:r>
              <a:rPr lang="pt-BR" dirty="0"/>
              <a:t>				[ R ] [ . ] [ . ]</a:t>
            </a:r>
          </a:p>
          <a:p>
            <a:r>
              <a:rPr lang="pt-BR" dirty="0"/>
              <a:t>                             [ . ] [ B ] [ . ]</a:t>
            </a:r>
          </a:p>
          <a:p>
            <a:r>
              <a:rPr lang="pt-BR" dirty="0"/>
              <a:t>                             [ . ] [ . ] [ T 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346330-FB89-9A71-F790-A4F6DCFD7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927" y="2295510"/>
            <a:ext cx="6650223" cy="397727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9B42169-631E-CD0F-A4CB-3645A92EA5AA}"/>
              </a:ext>
            </a:extLst>
          </p:cNvPr>
          <p:cNvSpPr/>
          <p:nvPr/>
        </p:nvSpPr>
        <p:spPr>
          <a:xfrm>
            <a:off x="4413123" y="4069080"/>
            <a:ext cx="1141857" cy="205740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3267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37A98-67BE-553F-2AD7-AD33AE069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81D21-D36F-8EF5-D296-B2AC115AF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Sokoban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E6BA44-1498-E7C8-3FDE-6424A0762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078" y="2084832"/>
            <a:ext cx="529209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8264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2"/>
                </a:solidFill>
              </a:rPr>
              <a:t>Escalonamento</a:t>
            </a:r>
            <a:endParaRPr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30F98-32E8-B3AA-CD85-36456967E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76D9-CD94-0D1A-E373-F0A6E86F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Escalonamento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943B18E-5745-C2C9-98F1-C66B1BE052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096" y="1828988"/>
            <a:ext cx="7290054" cy="4109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Planejamento (STRIPS):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Foco: Causalidade e Pré-condições.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1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"Quais ações me levam ao objetivo?“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Escalonamento (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Scheduling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Foco: Recursos limitados e Janelas de tempo.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1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"Quem faz o quê, em qual máquina e a que horas?“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Analogia: </a:t>
            </a:r>
            <a:r>
              <a:rPr kumimoji="0" lang="pt-BR" altLang="pt-BR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Planejar é saber que o bolo precisa ser assado após ser batido. Escalonar é saber que o forno só suporta 2 bolos por vez e leva 40 minutos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04597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3EFE2-F81E-13CA-69D3-5D0309802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A5554-6A9C-ED25-9ACB-B866FEA37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Como a IA pode resolver conflitos de recursos e tempo?</a:t>
            </a:r>
            <a:endParaRPr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C59F1E3-71AF-B33A-2576-FE44BCC02D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096" y="2105280"/>
            <a:ext cx="7644383" cy="4149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CSP (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Constraint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Satisfaction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Problems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Modelar o tempo e os recursos como variáveis com restrições.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Início_Tarefa_B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&gt;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Fim_Tarefa_A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Google Sans Text"/>
              </a:rPr>
              <a:t>Algoritmos Meta-heurísticos: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Google Sans Text"/>
              </a:rPr>
              <a:t> Algoritmos Genéticos e </a:t>
            </a:r>
            <a:r>
              <a:rPr kumimoji="0" lang="pt-BR" altLang="pt-BR" sz="1800" b="0" i="1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Google Sans Text"/>
              </a:rPr>
              <a:t>Simulated</a:t>
            </a:r>
            <a:r>
              <a:rPr kumimoji="0" lang="pt-BR" altLang="pt-BR" sz="1800" b="0" i="1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Google Sans Text"/>
              </a:rPr>
              <a:t> </a:t>
            </a:r>
            <a:r>
              <a:rPr kumimoji="0" lang="pt-BR" altLang="pt-BR" sz="1800" b="0" i="1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Google Sans Text"/>
              </a:rPr>
              <a:t>Annealing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Google Sans Text"/>
              </a:rPr>
              <a:t> (ótimos quando não se busca a solução exata/melhor, mas uma solução rápida).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Google Sans Text"/>
              </a:rPr>
              <a:t>Regras de Prioridade (Heurísticas Simples):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Google Sans Text"/>
              </a:rPr>
              <a:t> "Tarefa mais curta primeiro".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Google Sans Text"/>
              </a:rPr>
              <a:t>Programação Matemática (MILP):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Google Sans Text"/>
              </a:rPr>
              <a:t>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Google Sans Text"/>
              </a:rPr>
              <a:t>solvers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4413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FEA49-6278-8FA6-DC4D-091812B1E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B2105-118C-1730-2FE0-72C40707E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 de problema</a:t>
            </a:r>
            <a:endParaRPr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1546BED-6951-25A6-CCB7-76B18CDA6F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096" y="5457652"/>
            <a:ext cx="7644383" cy="416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pt-BR" altLang="pt-BR" sz="1800" b="1" dirty="0">
                <a:latin typeface="Google Sans Text"/>
              </a:rPr>
              <a:t>https://developers.google.com/optimization/scheduling/job_shop?hl=pt-br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A5FB59-4B11-367E-D496-DEA6EC38B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358" y="1787348"/>
            <a:ext cx="6139529" cy="367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1468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CSP: Tabuleiro de Restrições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3785BC-2367-C190-F75D-82FC0B2442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096" y="2084832"/>
            <a:ext cx="7290054" cy="2494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Variáveis (V):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Atividades ou tarefas (T_1, T_2, ...).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Domínios (D):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Espaços de tempo ou recursos disponíveis.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Restrições (C):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Unárias: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"A tarefa T_1 deve acabar antes das 10h".</a:t>
            </a: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Binárias: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"A tarefa T_1 e T_2 não podem usar a mesma máquina".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Backtracking</a:t>
            </a:r>
            <a:r>
              <a:rPr kumimoji="0" lang="pt-BR" altLang="pt-B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Search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com poda (parar assim que uma regra for violada).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0CB92-1636-05B2-A71F-F862E211B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3BDC-B9F9-2403-CD0D-42CE1F6D5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Escalonamento </a:t>
            </a:r>
            <a:r>
              <a:rPr lang="pt-BR" dirty="0" err="1"/>
              <a:t>bio-inspirado</a:t>
            </a:r>
            <a:r>
              <a:rPr lang="pt-BR" dirty="0"/>
              <a:t>: Algoritmos genéticos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A6DFB07-6AC9-418B-2FF3-FC6164332D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350" y="2529785"/>
            <a:ext cx="7607554" cy="3007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Indivíduo (Cromossomo):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Uma sequência completa de tarefas e horários.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Função de Aptidão (Fitness):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Minimizar tempo total de execução.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Operadores Evolutivos: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3736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Seleção: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Escolher os melhores planos atuais.</a:t>
            </a:r>
          </a:p>
          <a:p>
            <a:pPr marL="173736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Crossover: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Misturar o início do Plano A com o fim do Plano B.</a:t>
            </a:r>
          </a:p>
          <a:p>
            <a:pPr marL="173736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Mutação: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Mudar aleatoriamente uma tarefa de lugar para evitar o "ótimo local".</a:t>
            </a:r>
          </a:p>
          <a:p>
            <a:pPr marL="173736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Vantagem: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Encontra soluções excelentes em problemas de escala industrial (NP-Difíceis).</a:t>
            </a:r>
          </a:p>
        </p:txBody>
      </p:sp>
    </p:spTree>
    <p:extLst>
      <p:ext uri="{BB962C8B-B14F-4D97-AF65-F5344CB8AC3E}">
        <p14:creationId xmlns:p14="http://schemas.microsoft.com/office/powerpoint/2010/main" val="34086875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A4795-42D2-05E2-6437-865F03854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81AFE-8EAC-A21B-29F3-D94EA25C9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</a:rPr>
              <a:t>Bônus: </a:t>
            </a:r>
            <a:r>
              <a:rPr lang="pt-BR" dirty="0" err="1">
                <a:solidFill>
                  <a:schemeClr val="accent2"/>
                </a:solidFill>
              </a:rPr>
              <a:t>Backtracking</a:t>
            </a:r>
            <a:r>
              <a:rPr lang="pt-BR" dirty="0">
                <a:solidFill>
                  <a:schemeClr val="accent2"/>
                </a:solidFill>
              </a:rPr>
              <a:t> no Problema das Cores (A-B-C)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96305-C020-09CD-72E9-326669890026}"/>
              </a:ext>
            </a:extLst>
          </p:cNvPr>
          <p:cNvSpPr txBox="1"/>
          <p:nvPr/>
        </p:nvSpPr>
        <p:spPr>
          <a:xfrm>
            <a:off x="768096" y="2084832"/>
            <a:ext cx="7607808" cy="1708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pt-BR" dirty="0"/>
              <a:t>Imagine o mapa linear: </a:t>
            </a:r>
            <a:r>
              <a:rPr lang="pt-BR" b="1" dirty="0"/>
              <a:t>A — B — C</a:t>
            </a:r>
            <a:r>
              <a:rPr lang="pt-BR" dirty="0"/>
              <a:t>. </a:t>
            </a:r>
          </a:p>
          <a:p>
            <a:pPr>
              <a:lnSpc>
                <a:spcPct val="150000"/>
              </a:lnSpc>
              <a:buNone/>
            </a:pPr>
            <a:endParaRPr lang="pt-BR" b="1" dirty="0"/>
          </a:p>
          <a:p>
            <a:pPr>
              <a:lnSpc>
                <a:spcPct val="150000"/>
              </a:lnSpc>
              <a:buNone/>
            </a:pPr>
            <a:r>
              <a:rPr lang="pt-BR" b="1" dirty="0"/>
              <a:t>Regra:</a:t>
            </a:r>
            <a:r>
              <a:rPr lang="pt-BR" dirty="0"/>
              <a:t> Cores diferentes para vizinhos. </a:t>
            </a:r>
          </a:p>
          <a:p>
            <a:pPr>
              <a:lnSpc>
                <a:spcPct val="150000"/>
              </a:lnSpc>
              <a:buNone/>
            </a:pPr>
            <a:r>
              <a:rPr lang="pt-BR" b="1" dirty="0"/>
              <a:t>Domínio:</a:t>
            </a:r>
            <a:r>
              <a:rPr lang="pt-BR" dirty="0"/>
              <a:t> {🔴 Vermelho, 🟢 Verde}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0BA7A-654B-BB3E-837C-1766FD2EE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708" y="1856232"/>
            <a:ext cx="2679002" cy="452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0156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EE8AF-46A4-2341-8408-EB1C98C3F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F68E2-4A16-D179-6C64-98A130138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</a:rPr>
              <a:t>Bônus: </a:t>
            </a:r>
            <a:r>
              <a:rPr dirty="0">
                <a:solidFill>
                  <a:schemeClr val="accent2"/>
                </a:solidFill>
              </a:rPr>
              <a:t>Backtracking e Sudoku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4DE36B-CCBA-B37A-DA26-2680B4887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776" y="2153412"/>
            <a:ext cx="5523934" cy="3758184"/>
          </a:xfrm>
          <a:prstGeom prst="rect">
            <a:avLst/>
          </a:prstGeom>
        </p:spPr>
      </p:pic>
      <p:pic>
        <p:nvPicPr>
          <p:cNvPr id="14338" name="Picture 2" descr="Sudoku – Wikipédia, a enciclopédia livre">
            <a:extLst>
              <a:ext uri="{FF2B5EF4-FFF2-40B4-BE49-F238E27FC236}">
                <a16:creationId xmlns:a16="http://schemas.microsoft.com/office/drawing/2014/main" id="{FC57CB44-2796-20B8-C844-1A169CC0F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071" y="215341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36558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conclusões: Ciclo da IA Simbólica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42E722-4DD0-F380-4207-04F549AB5C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1248" y="2076998"/>
            <a:ext cx="7461504" cy="3919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Lógica: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Como a IA representa o conhecimento.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Sistemas Especialistas: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Como ela toma decisões estáticas.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Planejamento: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Como ela decide a sequência de ações para mudar o mundo.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Escalonamento: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Como ela organiza essas ações no tempo e nos recursos disponíveis.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pt-BR" sz="2400" dirty="0">
                <a:solidFill>
                  <a:schemeClr val="accent2"/>
                </a:solidFill>
              </a:rPr>
              <a:t>“A IA Simbólica é a IA Explicável'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Para Saber Mais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Russell &amp; Norvig: IA - Uma </a:t>
            </a:r>
            <a:r>
              <a:rPr dirty="0" err="1"/>
              <a:t>Abordagem</a:t>
            </a:r>
            <a:r>
              <a:rPr dirty="0"/>
              <a:t> Moderna.</a:t>
            </a:r>
          </a:p>
          <a:p>
            <a:r>
              <a:rPr dirty="0"/>
              <a:t>Ghallab: Automated Planning: Theory and Practice.</a:t>
            </a:r>
          </a:p>
          <a:p>
            <a:r>
              <a:rPr dirty="0" err="1"/>
              <a:t>Documentação</a:t>
            </a:r>
            <a:r>
              <a:rPr dirty="0"/>
              <a:t> Google OR-Tools (</a:t>
            </a:r>
            <a:r>
              <a:rPr dirty="0" err="1"/>
              <a:t>Exemplos</a:t>
            </a:r>
            <a:r>
              <a:rPr dirty="0"/>
              <a:t> </a:t>
            </a:r>
            <a:r>
              <a:rPr dirty="0" err="1"/>
              <a:t>Práticos</a:t>
            </a:r>
            <a:r>
              <a:rPr dirty="0"/>
              <a:t>).</a:t>
            </a:r>
            <a:endParaRPr lang="pt-BR" dirty="0"/>
          </a:p>
          <a:p>
            <a:endParaRPr lang="pt-BR" dirty="0"/>
          </a:p>
          <a:p>
            <a:r>
              <a:rPr lang="pt-BR" b="1" dirty="0"/>
              <a:t>Atividades sugeridas: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Explore: </a:t>
            </a:r>
            <a:r>
              <a:rPr lang="pt-BR" dirty="0">
                <a:hlinkClick r:id="rId3"/>
              </a:rPr>
              <a:t>https://developers.google.com/optimization/scheduling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Programe: </a:t>
            </a:r>
            <a:r>
              <a:rPr lang="pt-BR" dirty="0">
                <a:hlinkClick r:id="rId4"/>
              </a:rPr>
              <a:t>https://github.com/buguroo/pyknow</a:t>
            </a:r>
            <a:r>
              <a:rPr lang="pt-BR" dirty="0"/>
              <a:t>/ 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235</TotalTime>
  <Words>4433</Words>
  <Application>Microsoft Office PowerPoint</Application>
  <PresentationFormat>On-screen Show (4:3)</PresentationFormat>
  <Paragraphs>304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Google Sans Text</vt:lpstr>
      <vt:lpstr>Tw Cen MT</vt:lpstr>
      <vt:lpstr>Tw Cen MT Condensed</vt:lpstr>
      <vt:lpstr>Wingdings 3</vt:lpstr>
      <vt:lpstr>Integral</vt:lpstr>
      <vt:lpstr>IA SIMbóLICA</vt:lpstr>
      <vt:lpstr>Motivação: O Desafio de Marte</vt:lpstr>
      <vt:lpstr>Agenda da Aula: IA SIMbóLICA</vt:lpstr>
      <vt:lpstr>Lógica Proposicional</vt:lpstr>
      <vt:lpstr>Lógica Proposicional</vt:lpstr>
      <vt:lpstr>Lógica Proposicional</vt:lpstr>
      <vt:lpstr>Tabelas Verdade e Inferência</vt:lpstr>
      <vt:lpstr>modus tollens &amp; INFERÊNCIA</vt:lpstr>
      <vt:lpstr>Limitações da Lógica Proposicional</vt:lpstr>
      <vt:lpstr>Lógica de Predicados</vt:lpstr>
      <vt:lpstr>Lógica de Predicados (1ª Ordem)</vt:lpstr>
      <vt:lpstr>Aplicações de Predicados</vt:lpstr>
      <vt:lpstr>Generalizando o Conhecimento</vt:lpstr>
      <vt:lpstr>Bônus: Sistemas Especialistas (SE)</vt:lpstr>
      <vt:lpstr>Planejamento</vt:lpstr>
      <vt:lpstr>O que é Planejamento em IA?</vt:lpstr>
      <vt:lpstr>Planejamento automatizado</vt:lpstr>
      <vt:lpstr>Planejamento Abordagens</vt:lpstr>
      <vt:lpstr>Planejamento: O Modelo STRIPS</vt:lpstr>
      <vt:lpstr>STRIPS: EXEMPLO</vt:lpstr>
      <vt:lpstr>STRIPS: Empilhar(a,B)</vt:lpstr>
      <vt:lpstr>STRIPS: Empilhar(a,B)</vt:lpstr>
      <vt:lpstr>Empilhar(a,B), O QUE A IA FAZ?</vt:lpstr>
      <vt:lpstr>Planejamento como Busca em Espaço de Estados</vt:lpstr>
      <vt:lpstr>Bônus, EXEMPLO: Sokoban</vt:lpstr>
      <vt:lpstr>Sokoban</vt:lpstr>
      <vt:lpstr>Sokoban</vt:lpstr>
      <vt:lpstr>Escalonamento</vt:lpstr>
      <vt:lpstr>Escalonamento</vt:lpstr>
      <vt:lpstr>Como a IA pode resolver conflitos de recursos e tempo?</vt:lpstr>
      <vt:lpstr>Exemplo de problema</vt:lpstr>
      <vt:lpstr>CSP: Tabuleiro de Restrições</vt:lpstr>
      <vt:lpstr>Escalonamento bio-inspirado: Algoritmos genéticos</vt:lpstr>
      <vt:lpstr>Bônus: Backtracking no Problema das Cores (A-B-C)</vt:lpstr>
      <vt:lpstr>Bônus: Backtracking e Sudoku</vt:lpstr>
      <vt:lpstr>conclusões: Ciclo da IA Simbólica</vt:lpstr>
      <vt:lpstr>Para Saber Mais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ROGERIO DE OLIVEIRA</cp:lastModifiedBy>
  <cp:revision>4</cp:revision>
  <dcterms:created xsi:type="dcterms:W3CDTF">2013-01-27T09:14:16Z</dcterms:created>
  <dcterms:modified xsi:type="dcterms:W3CDTF">2026-05-07T17:26:55Z</dcterms:modified>
  <cp:category/>
</cp:coreProperties>
</file>